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5qW4vFm+Ydzkdai2sAG58HzAk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4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034A55-56B8-C8AD-AED4-A1FD441CB7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739F1-6C5A-5C18-72D6-74AFB3D63217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FINAL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81D8F-47FD-0C15-C299-6E4A1EA33451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Airport Data Warehouse &amp; Power BI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8F9B3-8FCD-E14F-D519-E91D3519DCB1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74535-C7DF-851E-0989-9F72E9179B54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958B9-DA64-08F7-9274-BF5ADF88DBEE}"/>
              </a:ext>
            </a:extLst>
          </p:cNvPr>
          <p:cNvSpPr txBox="1"/>
          <p:nvPr/>
        </p:nvSpPr>
        <p:spPr>
          <a:xfrm>
            <a:off x="609600" y="1714500"/>
            <a:ext cx="6858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800">
                <a:solidFill>
                  <a:srgbClr val="444444"/>
                </a:solidFill>
                <a:latin typeface="Aptos" panose="020B0004020202020204" pitchFamily="34" charset="0"/>
              </a:rPr>
              <a:t>Big Data Management and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E353B-ADC3-835D-E758-BEA50E10CFC2}"/>
              </a:ext>
            </a:extLst>
          </p:cNvPr>
          <p:cNvSpPr txBox="1"/>
          <p:nvPr/>
        </p:nvSpPr>
        <p:spPr>
          <a:xfrm>
            <a:off x="609600" y="2286000"/>
            <a:ext cx="71120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800">
                <a:solidFill>
                  <a:srgbClr val="444444"/>
                </a:solidFill>
                <a:latin typeface="Aptos" panose="020B0004020202020204" pitchFamily="34" charset="0"/>
              </a:rPr>
              <a:t>A practical ETL scenario: source airport data, analytical Data Warehouse, scheduled incremental synchronization, and Power BI reporting.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E2C0B7-2512-319E-F0AD-B80970E203CB}"/>
              </a:ext>
            </a:extLst>
          </p:cNvPr>
          <p:cNvSpPr/>
          <p:nvPr/>
        </p:nvSpPr>
        <p:spPr>
          <a:xfrm>
            <a:off x="609600" y="3962400"/>
            <a:ext cx="6858000" cy="13335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Core thesis
We do not reload the whole database. We load only the next closed business day and then refresh Power BI.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A5BC8-5FF7-ACB8-88BC-B2576912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0" y="1529202"/>
            <a:ext cx="2349500" cy="23390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0FDF6D-6828-042F-059F-B6F0E79D4372}"/>
              </a:ext>
            </a:extLst>
          </p:cNvPr>
          <p:cNvSpPr txBox="1"/>
          <p:nvPr/>
        </p:nvSpPr>
        <p:spPr>
          <a:xfrm>
            <a:off x="8699500" y="4140200"/>
            <a:ext cx="2667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>
                <a:solidFill>
                  <a:srgbClr val="444444"/>
                </a:solidFill>
                <a:latin typeface="Aptos" panose="020B0004020202020204" pitchFamily="34" charset="0"/>
              </a:rPr>
              <a:t>Prepared for a 10-minute project discussion</a:t>
            </a:r>
          </a:p>
        </p:txBody>
      </p:sp>
    </p:spTree>
    <p:extLst>
      <p:ext uri="{BB962C8B-B14F-4D97-AF65-F5344CB8AC3E}">
        <p14:creationId xmlns:p14="http://schemas.microsoft.com/office/powerpoint/2010/main" val="48955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DA1B5C-DF1B-EB49-4311-C7C90B53FC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0A6C6-62DE-3E07-FAA0-1FB4F999FB89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WHY THIS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EA819-5D9A-631C-D016-1107881A5A7D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The project starts from a realistic reporting problem.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49567-893E-1CFC-D9A1-7320B587BA17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6CCD6-368A-F96C-B3BC-5733268FB50D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2F77C-3513-7E97-E865-335A3464BF42}"/>
              </a:ext>
            </a:extLst>
          </p:cNvPr>
          <p:cNvSpPr txBox="1"/>
          <p:nvPr/>
        </p:nvSpPr>
        <p:spPr>
          <a:xfrm>
            <a:off x="660400" y="1714500"/>
            <a:ext cx="5207000" cy="181588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The source database, airportdb, behaves like an operational system: flights, bookings, airlines, airports and weather are stored as raw transactional tables.
Power BI could connect directly to those tables, but that would push joins, aggregation and heavy calculations into the BI layer.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57A8F-CFDE-5CCB-0DCF-64027858E64C}"/>
              </a:ext>
            </a:extLst>
          </p:cNvPr>
          <p:cNvSpPr/>
          <p:nvPr/>
        </p:nvSpPr>
        <p:spPr>
          <a:xfrm>
            <a:off x="660400" y="4699000"/>
            <a:ext cx="5207000" cy="11684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Decision
Create airportdw as a separate analytical Data Warehouse, then expose clean summary views to Power BI.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D15D8-64D6-BE95-B167-DB2030B91FD9}"/>
              </a:ext>
            </a:extLst>
          </p:cNvPr>
          <p:cNvSpPr/>
          <p:nvPr/>
        </p:nvSpPr>
        <p:spPr>
          <a:xfrm>
            <a:off x="6921500" y="1841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863C5-D7D3-20E9-3C38-CEFFFBEE679C}"/>
              </a:ext>
            </a:extLst>
          </p:cNvPr>
          <p:cNvSpPr txBox="1"/>
          <p:nvPr/>
        </p:nvSpPr>
        <p:spPr>
          <a:xfrm>
            <a:off x="7454900" y="1816100"/>
            <a:ext cx="34671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airportdb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88F5B6-E95F-8E78-A768-C8472961CCF6}"/>
              </a:ext>
            </a:extLst>
          </p:cNvPr>
          <p:cNvSpPr txBox="1"/>
          <p:nvPr/>
        </p:nvSpPr>
        <p:spPr>
          <a:xfrm>
            <a:off x="7454900" y="2133600"/>
            <a:ext cx="34671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Raw source / production-like system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D193F4-589E-01DF-14E7-7C8CAE11EE92}"/>
              </a:ext>
            </a:extLst>
          </p:cNvPr>
          <p:cNvSpPr/>
          <p:nvPr/>
        </p:nvSpPr>
        <p:spPr>
          <a:xfrm>
            <a:off x="6921500" y="2984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E3765-E76E-EA7E-7994-07269D76892E}"/>
              </a:ext>
            </a:extLst>
          </p:cNvPr>
          <p:cNvSpPr txBox="1"/>
          <p:nvPr/>
        </p:nvSpPr>
        <p:spPr>
          <a:xfrm>
            <a:off x="7454900" y="2959100"/>
            <a:ext cx="34671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airportdw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53A73C-A570-8D08-71BE-81EB9EC3C382}"/>
              </a:ext>
            </a:extLst>
          </p:cNvPr>
          <p:cNvSpPr txBox="1"/>
          <p:nvPr/>
        </p:nvSpPr>
        <p:spPr>
          <a:xfrm>
            <a:off x="7454900" y="3276600"/>
            <a:ext cx="34671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Fact and dimension model for analysis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407901-6498-6A05-A891-F073829EFE38}"/>
              </a:ext>
            </a:extLst>
          </p:cNvPr>
          <p:cNvSpPr/>
          <p:nvPr/>
        </p:nvSpPr>
        <p:spPr>
          <a:xfrm>
            <a:off x="6921500" y="4127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02AA5-6C60-1246-61A6-F29C7C6692FD}"/>
              </a:ext>
            </a:extLst>
          </p:cNvPr>
          <p:cNvSpPr txBox="1"/>
          <p:nvPr/>
        </p:nvSpPr>
        <p:spPr>
          <a:xfrm>
            <a:off x="7454900" y="4102100"/>
            <a:ext cx="34671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E55DCA-61F5-1D36-A9E7-AF929579BF46}"/>
              </a:ext>
            </a:extLst>
          </p:cNvPr>
          <p:cNvSpPr txBox="1"/>
          <p:nvPr/>
        </p:nvSpPr>
        <p:spPr>
          <a:xfrm>
            <a:off x="7454900" y="4419600"/>
            <a:ext cx="34671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Dashboard reads prepared views</a:t>
            </a:r>
          </a:p>
        </p:txBody>
      </p:sp>
    </p:spTree>
    <p:extLst>
      <p:ext uri="{BB962C8B-B14F-4D97-AF65-F5344CB8AC3E}">
        <p14:creationId xmlns:p14="http://schemas.microsoft.com/office/powerpoint/2010/main" val="352522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7ECF7F-38BC-3FC0-AC42-A9B5A3F2E7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03721-3176-0CCD-7300-9E038193500A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DW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8A18C-1048-135A-BFD1-531F93B5BD67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The Data Warehouse separates facts from business context.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44E33-0D64-C6DE-81B8-FF3B4193F9A5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206C2-9372-4902-C805-F6BC0231679A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FBB43-7200-E684-757C-CCDE81C5E5A9}"/>
              </a:ext>
            </a:extLst>
          </p:cNvPr>
          <p:cNvSpPr txBox="1"/>
          <p:nvPr/>
        </p:nvSpPr>
        <p:spPr>
          <a:xfrm>
            <a:off x="660400" y="1714500"/>
            <a:ext cx="3619500" cy="16004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>
                <a:solidFill>
                  <a:srgbClr val="444444"/>
                </a:solidFill>
                <a:latin typeface="Aptos" panose="020B0004020202020204" pitchFamily="34" charset="0"/>
              </a:rPr>
              <a:t>Main dimensions:
dim_date, dim_airport, dim_airline, dim_airplane, dim_route
Main facts:
fact_flight, fact_booking_by_flight, fact_daily_airport_traffic, fact_weather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833E2D-72EE-8B8A-94E6-6962CED9D855}"/>
              </a:ext>
            </a:extLst>
          </p:cNvPr>
          <p:cNvSpPr/>
          <p:nvPr/>
        </p:nvSpPr>
        <p:spPr>
          <a:xfrm>
            <a:off x="660400" y="4508500"/>
            <a:ext cx="3619500" cy="12700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Why this matters
Facts keep measurable events. Dimensions describe how we group and filter them: date, airport, airline, aircraft and route.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FDFA0E-4060-C282-BAAA-E1E1807C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918" y="1625600"/>
            <a:ext cx="5663164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2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AAC1E6-4CFD-186C-C816-9287BD41A8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B0780-940E-A450-7CA8-AC604091B925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SYNCHRONIZATION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C3AF3-12ED-F1BC-D975-92DDC77CDAC6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The ETL does not rebuild everything; it loads the next closed day.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C921B-7C96-C6F6-C50F-7E9ABFB05D8F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05DA76-6597-1A47-7CE6-32EBA6D0B7FC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B2139-C4F7-237B-92CE-A6E1C453A516}"/>
              </a:ext>
            </a:extLst>
          </p:cNvPr>
          <p:cNvSpPr txBox="1"/>
          <p:nvPr/>
        </p:nvSpPr>
        <p:spPr>
          <a:xfrm>
            <a:off x="685800" y="1676400"/>
            <a:ext cx="10160000" cy="5950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The most important design choice is incremental synchronization. The Data Warehouse remembers its state and only adds new data that is safe to report.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94FAF8-BB79-A6C1-8D42-0FEF77BE1083}"/>
              </a:ext>
            </a:extLst>
          </p:cNvPr>
          <p:cNvSpPr/>
          <p:nvPr/>
        </p:nvSpPr>
        <p:spPr>
          <a:xfrm>
            <a:off x="889000" y="2603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08B67-D120-DA9C-A5CD-753B2A1B0899}"/>
              </a:ext>
            </a:extLst>
          </p:cNvPr>
          <p:cNvSpPr txBox="1"/>
          <p:nvPr/>
        </p:nvSpPr>
        <p:spPr>
          <a:xfrm>
            <a:off x="1422400" y="2578100"/>
            <a:ext cx="40386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Read ETL 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D2E41-3497-B7F5-83ED-A65854AFBF93}"/>
              </a:ext>
            </a:extLst>
          </p:cNvPr>
          <p:cNvSpPr txBox="1"/>
          <p:nvPr/>
        </p:nvSpPr>
        <p:spPr>
          <a:xfrm>
            <a:off x="1422400" y="2895600"/>
            <a:ext cx="403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etl_control stores last_loaded_date and safety_delay_hours.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BEC42F-EAB5-4AA1-307A-E86647C4E95E}"/>
              </a:ext>
            </a:extLst>
          </p:cNvPr>
          <p:cNvSpPr/>
          <p:nvPr/>
        </p:nvSpPr>
        <p:spPr>
          <a:xfrm>
            <a:off x="889000" y="3873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E4DAF9-47A8-D114-FE5A-32AA40ADD635}"/>
              </a:ext>
            </a:extLst>
          </p:cNvPr>
          <p:cNvSpPr txBox="1"/>
          <p:nvPr/>
        </p:nvSpPr>
        <p:spPr>
          <a:xfrm>
            <a:off x="1422400" y="3848100"/>
            <a:ext cx="40386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Calculate closed day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1587D2-08C0-BC90-947E-FB6DE66F0213}"/>
              </a:ext>
            </a:extLst>
          </p:cNvPr>
          <p:cNvSpPr txBox="1"/>
          <p:nvPr/>
        </p:nvSpPr>
        <p:spPr>
          <a:xfrm>
            <a:off x="1422400" y="4165600"/>
            <a:ext cx="403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A day is closed after the next day passes plus a 3-hour safety delay.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D341B3-8E8B-92CF-9542-0DB8AC8265A7}"/>
              </a:ext>
            </a:extLst>
          </p:cNvPr>
          <p:cNvSpPr/>
          <p:nvPr/>
        </p:nvSpPr>
        <p:spPr>
          <a:xfrm>
            <a:off x="6540500" y="2603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C07099-C5CB-B0F5-AFD2-9A537FCDD29B}"/>
              </a:ext>
            </a:extLst>
          </p:cNvPr>
          <p:cNvSpPr txBox="1"/>
          <p:nvPr/>
        </p:nvSpPr>
        <p:spPr>
          <a:xfrm>
            <a:off x="7073900" y="2578100"/>
            <a:ext cx="39116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Load missing range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43417C-2F0B-F45D-EA8A-B73F513A67DD}"/>
              </a:ext>
            </a:extLst>
          </p:cNvPr>
          <p:cNvSpPr txBox="1"/>
          <p:nvPr/>
        </p:nvSpPr>
        <p:spPr>
          <a:xfrm>
            <a:off x="7073900" y="2895600"/>
            <a:ext cx="3911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The procedure inserts only the next closed day into the DW facts.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F804B2-7F10-246F-E256-984ED8F95279}"/>
              </a:ext>
            </a:extLst>
          </p:cNvPr>
          <p:cNvSpPr/>
          <p:nvPr/>
        </p:nvSpPr>
        <p:spPr>
          <a:xfrm>
            <a:off x="6540500" y="3873500"/>
            <a:ext cx="406400" cy="406400"/>
          </a:xfrm>
          <a:prstGeom prst="ellipse">
            <a:avLst/>
          </a:prstGeom>
          <a:solidFill>
            <a:srgbClr val="51697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C8C8D-A80B-DD57-130D-BD35E761D217}"/>
              </a:ext>
            </a:extLst>
          </p:cNvPr>
          <p:cNvSpPr txBox="1"/>
          <p:nvPr/>
        </p:nvSpPr>
        <p:spPr>
          <a:xfrm>
            <a:off x="7073900" y="3848100"/>
            <a:ext cx="39116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303030"/>
                </a:solidFill>
                <a:latin typeface="Aptos" panose="020B0004020202020204" pitchFamily="34" charset="0"/>
              </a:rPr>
              <a:t>Log the result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3DCE8-006F-2E2A-3BCA-A3C5A2723534}"/>
              </a:ext>
            </a:extLst>
          </p:cNvPr>
          <p:cNvSpPr txBox="1"/>
          <p:nvPr/>
        </p:nvSpPr>
        <p:spPr>
          <a:xfrm>
            <a:off x="7073900" y="4165600"/>
            <a:ext cx="3911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555555"/>
                </a:solidFill>
                <a:latin typeface="Aptos" panose="020B0004020202020204" pitchFamily="34" charset="0"/>
              </a:rPr>
              <a:t>etl_run_log stores status, duration and rows loaded per fact table.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C68BBC0-184E-2DF7-F9E0-04D8062BAFC0}"/>
              </a:ext>
            </a:extLst>
          </p:cNvPr>
          <p:cNvSpPr/>
          <p:nvPr/>
        </p:nvSpPr>
        <p:spPr>
          <a:xfrm>
            <a:off x="1524000" y="5461000"/>
            <a:ext cx="9144000" cy="825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Professor question answer
We did not add a true/false flag to every flight row. We implemented ETL control logic that decides when a business day is closed.</a:t>
            </a:r>
          </a:p>
        </p:txBody>
      </p:sp>
    </p:spTree>
    <p:extLst>
      <p:ext uri="{BB962C8B-B14F-4D97-AF65-F5344CB8AC3E}">
        <p14:creationId xmlns:p14="http://schemas.microsoft.com/office/powerpoint/2010/main" val="403780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D2938E-DD77-C0B0-5FF9-2F699CF4BD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B48A8-5853-5AF8-5C60-BEA25D065D6A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CLOSED-DAY RULE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F61EF-BEB9-1373-38A0-92166A7C523C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A business day is “closed” by ETL rule, not by manual guessing.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EB5C4-1356-8CA7-5321-CF2C95B92343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7A663-45B6-059F-FAF1-C4742AAE8E8D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D0C45-11CC-249B-CC13-F7F470456D4E}"/>
              </a:ext>
            </a:extLst>
          </p:cNvPr>
          <p:cNvSpPr txBox="1"/>
          <p:nvPr/>
        </p:nvSpPr>
        <p:spPr>
          <a:xfrm>
            <a:off x="685800" y="1752600"/>
            <a:ext cx="4826000" cy="15696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In a real airport system, data can arrive late: delayed flights, booking corrections, and weather rows may be updated after midnight.
So the DW waits for a safety delay before considering a day stable.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050BE8-164C-4844-E2B2-E6650939EA24}"/>
              </a:ext>
            </a:extLst>
          </p:cNvPr>
          <p:cNvSpPr/>
          <p:nvPr/>
        </p:nvSpPr>
        <p:spPr>
          <a:xfrm>
            <a:off x="685800" y="4254500"/>
            <a:ext cx="4826000" cy="12700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Example
If simulated_now = 2015-07-04 03:00 and safety_delay = 3 hours, then 2015-07-03 is considered closed and can be loaded.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C07D6-8150-CFC9-E4A7-910764700C6A}"/>
              </a:ext>
            </a:extLst>
          </p:cNvPr>
          <p:cNvSpPr txBox="1"/>
          <p:nvPr/>
        </p:nvSpPr>
        <p:spPr>
          <a:xfrm>
            <a:off x="6667500" y="1752600"/>
            <a:ext cx="4191000" cy="3642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700">
                <a:solidFill>
                  <a:srgbClr val="444444"/>
                </a:solidFill>
                <a:latin typeface="Aptos" panose="020B0004020202020204" pitchFamily="34" charset="0"/>
              </a:rPr>
              <a:t>Key control fields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734C7-EE16-E8E6-6C8D-DB6CC9A3A22B}"/>
              </a:ext>
            </a:extLst>
          </p:cNvPr>
          <p:cNvSpPr txBox="1"/>
          <p:nvPr/>
        </p:nvSpPr>
        <p:spPr>
          <a:xfrm>
            <a:off x="6667500" y="2209800"/>
            <a:ext cx="4191000" cy="17081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500">
                <a:solidFill>
                  <a:srgbClr val="444444"/>
                </a:solidFill>
                <a:latin typeface="Aptos" panose="020B0004020202020204" pitchFamily="34" charset="0"/>
              </a:rPr>
              <a:t>etl_control
• simulated_now
• closed_until_date
• last_loaded_date
• batch_days
• safety_delay_hours
• last_status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3FBF55-14BD-5404-DD5F-DCB33F7D25A8}"/>
              </a:ext>
            </a:extLst>
          </p:cNvPr>
          <p:cNvSpPr txBox="1"/>
          <p:nvPr/>
        </p:nvSpPr>
        <p:spPr>
          <a:xfrm>
            <a:off x="8953500" y="2209800"/>
            <a:ext cx="2794000" cy="17081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500">
                <a:solidFill>
                  <a:srgbClr val="444444"/>
                </a:solidFill>
                <a:latin typeface="Aptos" panose="020B0004020202020204" pitchFamily="34" charset="0"/>
              </a:rPr>
              <a:t>etl_run_log
• run_id
• loaded_from_date / loaded_to_date
• rows loaded
• duration_seconds
• SUCCESS / FAILED</a:t>
            </a:r>
          </a:p>
        </p:txBody>
      </p:sp>
    </p:spTree>
    <p:extLst>
      <p:ext uri="{BB962C8B-B14F-4D97-AF65-F5344CB8AC3E}">
        <p14:creationId xmlns:p14="http://schemas.microsoft.com/office/powerpoint/2010/main" val="229589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6B0E7D-0B7B-864E-6F1B-A5943B6BD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5E503-9FDC-5A4B-58A6-B71349EB735D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SCHEDULER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CF3AC-16A0-9D27-EC5B-64D32BEF67EE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MySQL Event Scheduler automates the ETL trigger.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525C7-B877-0CA4-73EA-D6052388CF8C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92E54-0B13-138E-CB98-A1CB35A3D731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4CE87-27D8-CC9D-4AC6-43A0901D3142}"/>
              </a:ext>
            </a:extLst>
          </p:cNvPr>
          <p:cNvSpPr txBox="1"/>
          <p:nvPr/>
        </p:nvSpPr>
        <p:spPr>
          <a:xfrm>
            <a:off x="685800" y="1714500"/>
            <a:ext cx="9652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The scheduler does not transform data by itself. It simply triggers the stored procedure on a schedule.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376EBB-6A0E-1247-EDFD-E36462AA923A}"/>
              </a:ext>
            </a:extLst>
          </p:cNvPr>
          <p:cNvSpPr/>
          <p:nvPr/>
        </p:nvSpPr>
        <p:spPr>
          <a:xfrm>
            <a:off x="889000" y="2603500"/>
            <a:ext cx="4953000" cy="14605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CREATE EVENT ev_refresh_airportdw_closed_days
ON SCHEDULE EVERY 1 DAY
DO CALL airportdw.refresh_airportdw_next_closed_days();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96CCD-BF82-6EC3-8183-7A727954799D}"/>
              </a:ext>
            </a:extLst>
          </p:cNvPr>
          <p:cNvSpPr txBox="1"/>
          <p:nvPr/>
        </p:nvSpPr>
        <p:spPr>
          <a:xfrm>
            <a:off x="6540500" y="2540000"/>
            <a:ext cx="4572000" cy="170816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500">
                <a:solidFill>
                  <a:srgbClr val="444444"/>
                </a:solidFill>
                <a:latin typeface="Aptos" panose="020B0004020202020204" pitchFamily="34" charset="0"/>
              </a:rPr>
              <a:t>In a production scenario:
02:30 - MySQL Event Scheduler runs ETL
03:00 - Power BI Service / Gateway refreshes report
In our local demo:
We manually call the procedure and then click Power BI Home -&gt; Refresh.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51B69-B43B-B51F-03F3-C8CBFDE99F63}"/>
              </a:ext>
            </a:extLst>
          </p:cNvPr>
          <p:cNvSpPr/>
          <p:nvPr/>
        </p:nvSpPr>
        <p:spPr>
          <a:xfrm>
            <a:off x="3302000" y="4889500"/>
            <a:ext cx="5461000" cy="736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Main procedure
refresh_airportdw_next_closed_days()</a:t>
            </a:r>
          </a:p>
        </p:txBody>
      </p:sp>
    </p:spTree>
    <p:extLst>
      <p:ext uri="{BB962C8B-B14F-4D97-AF65-F5344CB8AC3E}">
        <p14:creationId xmlns:p14="http://schemas.microsoft.com/office/powerpoint/2010/main" val="407038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F71CE8-7F20-6D90-5D54-69FC17E7BD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6348A-7436-37F6-A3B8-DDD5D0EC3225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1C517-68E6-3157-3A8D-60184A5725B2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The ETL evidence shows the warehouse growing incrementally.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7D14F-8A88-029E-C8A6-9F0F4CBBDAC8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7C1ED-5A2B-357B-8B7A-B73C20C68FB8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1FF15-92B3-CE3A-FC0F-9F5BD44854AE}"/>
              </a:ext>
            </a:extLst>
          </p:cNvPr>
          <p:cNvSpPr txBox="1"/>
          <p:nvPr/>
        </p:nvSpPr>
        <p:spPr>
          <a:xfrm>
            <a:off x="685800" y="1676400"/>
            <a:ext cx="10160000" cy="5950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Run 1 loaded the initial month. Each next run loaded one additional closed day. This proves the scenario is incremental and not a full reload.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3812E0-CCD4-185A-C237-ADEA7D44F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07" y="2413000"/>
            <a:ext cx="5795085" cy="36195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462F71-2558-9459-D711-1B7411CCBB20}"/>
              </a:ext>
            </a:extLst>
          </p:cNvPr>
          <p:cNvSpPr/>
          <p:nvPr/>
        </p:nvSpPr>
        <p:spPr>
          <a:xfrm>
            <a:off x="8191500" y="2794000"/>
            <a:ext cx="2984500" cy="18415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Current demo state
Initial month + 3 daily refreshes
Total fact_flight rows: 164,112
Missing flights in loaded window: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A059E-485F-E82C-4A37-E7C187F45043}"/>
              </a:ext>
            </a:extLst>
          </p:cNvPr>
          <p:cNvSpPr txBox="1"/>
          <p:nvPr/>
        </p:nvSpPr>
        <p:spPr>
          <a:xfrm>
            <a:off x="8191500" y="4953000"/>
            <a:ext cx="31750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444444"/>
                </a:solidFill>
                <a:latin typeface="Aptos" panose="020B0004020202020204" pitchFamily="34" charset="0"/>
              </a:rPr>
              <a:t>Validation query checks that every source flight up to last_loaded_date exists in fact_flight.</a:t>
            </a:r>
          </a:p>
        </p:txBody>
      </p:sp>
    </p:spTree>
    <p:extLst>
      <p:ext uri="{BB962C8B-B14F-4D97-AF65-F5344CB8AC3E}">
        <p14:creationId xmlns:p14="http://schemas.microsoft.com/office/powerpoint/2010/main" val="211766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D00F56-4EDF-C3D2-FD66-07E3C3534F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79449-EA1B-0A46-B4B7-72C3AD365FE6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BI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E7E7B-DF8D-AAB9-4D00-95E65538E663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Power BI reads prepared views, not raw operational tables.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E2B5B-2AD2-DFC3-71AB-172B32867AD7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F56E5-C739-811D-4939-93C0D89A1735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13B83-9FFF-C64D-DEE9-C394A0D013D4}"/>
              </a:ext>
            </a:extLst>
          </p:cNvPr>
          <p:cNvSpPr txBox="1"/>
          <p:nvPr/>
        </p:nvSpPr>
        <p:spPr>
          <a:xfrm>
            <a:off x="685800" y="1676400"/>
            <a:ext cx="10160000" cy="5950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To keep the dashboard simple and stable, MySQL creates summary views for the visuals. This avoids complex relationships between raw tables inside Power BI.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1D3CE-8381-5180-DC3B-8F599BDAA669}"/>
              </a:ext>
            </a:extLst>
          </p:cNvPr>
          <p:cNvSpPr txBox="1"/>
          <p:nvPr/>
        </p:nvSpPr>
        <p:spPr>
          <a:xfrm>
            <a:off x="939800" y="2540000"/>
            <a:ext cx="3175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600">
                <a:solidFill>
                  <a:srgbClr val="444444"/>
                </a:solidFill>
                <a:latin typeface="Aptos" panose="020B0004020202020204" pitchFamily="34" charset="0"/>
              </a:rPr>
              <a:t>Dashboard views used: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040C0-2522-0FD7-15D3-7984358FDD74}"/>
              </a:ext>
            </a:extLst>
          </p:cNvPr>
          <p:cNvSpPr txBox="1"/>
          <p:nvPr/>
        </p:nvSpPr>
        <p:spPr>
          <a:xfrm>
            <a:off x="939800" y="3048000"/>
            <a:ext cx="4191000" cy="149271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444444"/>
                </a:solidFill>
                <a:latin typeface="Aptos" panose="020B0004020202020204" pitchFamily="34" charset="0"/>
              </a:rPr>
              <a:t>vw_top20_airport_map_traffic
vw_top_countries_by_revenue
vw_top_airlines_by_revenue
vw_monthly_revenue_trend
vw_price_range_distribution
vw_etl_current_status
vw_etl_run_history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A3B003-F8DE-564D-03D8-5DB0FA769AD7}"/>
              </a:ext>
            </a:extLst>
          </p:cNvPr>
          <p:cNvSpPr/>
          <p:nvPr/>
        </p:nvSpPr>
        <p:spPr>
          <a:xfrm>
            <a:off x="6477000" y="2730500"/>
            <a:ext cx="4191000" cy="15875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Important fix
Power BI auto-relationships between summary views caused duplicate-value errors. We removed those relationships and used each summary view independently.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6251C-A019-3E19-FD0C-AA7B50CDB85F}"/>
              </a:ext>
            </a:extLst>
          </p:cNvPr>
          <p:cNvSpPr txBox="1"/>
          <p:nvPr/>
        </p:nvSpPr>
        <p:spPr>
          <a:xfrm>
            <a:off x="6477000" y="4635500"/>
            <a:ext cx="41910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>
                <a:solidFill>
                  <a:srgbClr val="444444"/>
                </a:solidFill>
                <a:latin typeface="Aptos" panose="020B0004020202020204" pitchFamily="34" charset="0"/>
              </a:rPr>
              <a:t>That is acceptable because the views are already aggregated for reporting.</a:t>
            </a:r>
          </a:p>
        </p:txBody>
      </p:sp>
    </p:spTree>
    <p:extLst>
      <p:ext uri="{BB962C8B-B14F-4D97-AF65-F5344CB8AC3E}">
        <p14:creationId xmlns:p14="http://schemas.microsoft.com/office/powerpoint/2010/main" val="2453132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5E45FF-89A5-CD62-C2B2-1B98BD817C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F4F99-7AC2-F1FD-7C78-621C8D74B47C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POWER BI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EE3E5-2215-92C4-69CB-DD09529641AA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The dashboard shows business results and refresh impact.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EA90B-9801-7300-A153-3A063DAE9031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E16EC-1DCA-D584-8A1C-FF0D9D781AC8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EDFD0-D226-CA2B-79C9-24FD8558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411" y="1625600"/>
            <a:ext cx="8013178" cy="444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101877-A850-E599-D948-9B5CE1CAA7A8}"/>
              </a:ext>
            </a:extLst>
          </p:cNvPr>
          <p:cNvSpPr/>
          <p:nvPr/>
        </p:nvSpPr>
        <p:spPr>
          <a:xfrm>
            <a:off x="7112000" y="5461000"/>
            <a:ext cx="4254500" cy="7874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What this demonstrates
Airport activity, revenue leaders, airline contribution, monthly load movement, and booking price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18125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DD7CCA-9F77-64B8-4608-05AA1C5470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0C3AE-65C7-A8AE-6C64-9DBBCC6900C5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DEMO STORY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3407B-CFA9-C008-6CB6-78686F465493}"/>
              </a:ext>
            </a:extLst>
          </p:cNvPr>
          <p:cNvSpPr txBox="1"/>
          <p:nvPr/>
        </p:nvSpPr>
        <p:spPr>
          <a:xfrm>
            <a:off x="558800" y="635000"/>
            <a:ext cx="10414000" cy="50783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What changed after refresh: the visuals receive new closed-day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5182D9-EC3D-95C2-3E94-C7A7F4EB2386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B20CE-B0B2-F8FA-12F3-F0A6D74A1364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A39642-E305-BA4C-C3A4-80571478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855258"/>
            <a:ext cx="5778500" cy="3274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0F3BA0-EB17-1383-59AA-41B3C49E6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84" y="1714500"/>
            <a:ext cx="4693433" cy="260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8CB88C-7FED-CC1E-E3F8-635532379CA9}"/>
              </a:ext>
            </a:extLst>
          </p:cNvPr>
          <p:cNvSpPr txBox="1"/>
          <p:nvPr/>
        </p:nvSpPr>
        <p:spPr>
          <a:xfrm>
            <a:off x="889000" y="5397500"/>
            <a:ext cx="3175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444444"/>
                </a:solidFill>
                <a:latin typeface="Aptos" panose="020B0004020202020204" pitchFamily="34" charset="0"/>
              </a:rPr>
              <a:t>Before / first dashboard state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42045A-806F-0F97-5DEA-B7DAA754E095}"/>
              </a:ext>
            </a:extLst>
          </p:cNvPr>
          <p:cNvSpPr txBox="1"/>
          <p:nvPr/>
        </p:nvSpPr>
        <p:spPr>
          <a:xfrm>
            <a:off x="6985000" y="4445000"/>
            <a:ext cx="3810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444444"/>
                </a:solidFill>
                <a:latin typeface="Aptos" panose="020B0004020202020204" pitchFamily="34" charset="0"/>
              </a:rPr>
              <a:t>After refresh / updated dashboard state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9D06A0-0E6E-F091-68D6-67D3A06BE769}"/>
              </a:ext>
            </a:extLst>
          </p:cNvPr>
          <p:cNvSpPr/>
          <p:nvPr/>
        </p:nvSpPr>
        <p:spPr>
          <a:xfrm>
            <a:off x="6667500" y="4927600"/>
            <a:ext cx="4572000" cy="10414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Presentation line
We run the ETL, the DW receives the next closed business day, then Power BI refresh shows the updated measures.</a:t>
            </a:r>
          </a:p>
        </p:txBody>
      </p:sp>
    </p:spTree>
    <p:extLst>
      <p:ext uri="{BB962C8B-B14F-4D97-AF65-F5344CB8AC3E}">
        <p14:creationId xmlns:p14="http://schemas.microsoft.com/office/powerpoint/2010/main" val="134700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73D75D-7ECF-449B-0D38-2679D2F0D7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EBAFE-184F-7AAE-B456-5D99E02F4CD5}"/>
              </a:ext>
            </a:extLst>
          </p:cNvPr>
          <p:cNvSpPr txBox="1"/>
          <p:nvPr/>
        </p:nvSpPr>
        <p:spPr>
          <a:xfrm>
            <a:off x="584200" y="355600"/>
            <a:ext cx="38100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900" b="1">
                <a:solidFill>
                  <a:srgbClr val="516979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10726-31EE-1AC2-32D7-5CC5445EF818}"/>
              </a:ext>
            </a:extLst>
          </p:cNvPr>
          <p:cNvSpPr txBox="1"/>
          <p:nvPr/>
        </p:nvSpPr>
        <p:spPr>
          <a:xfrm>
            <a:off x="558800" y="635000"/>
            <a:ext cx="10414000" cy="92333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2700" b="1">
                <a:solidFill>
                  <a:srgbClr val="142F4D"/>
                </a:solidFill>
                <a:latin typeface="Aptos Display" panose="020B0004020202020204" pitchFamily="34" charset="0"/>
              </a:rPr>
              <a:t>Final status: the project covers DW design, synchronization, and BI reporting.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F3A479-4635-3C56-B844-8FA6A374E1FE}"/>
              </a:ext>
            </a:extLst>
          </p:cNvPr>
          <p:cNvSpPr/>
          <p:nvPr/>
        </p:nvSpPr>
        <p:spPr>
          <a:xfrm>
            <a:off x="558800" y="1422400"/>
            <a:ext cx="11074400" cy="25400"/>
          </a:xfrm>
          <a:prstGeom prst="rect">
            <a:avLst/>
          </a:prstGeom>
          <a:solidFill>
            <a:srgbClr val="9BC2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D00EA-8A6B-ABDB-1D88-09D72828D946}"/>
              </a:ext>
            </a:extLst>
          </p:cNvPr>
          <p:cNvSpPr txBox="1"/>
          <p:nvPr/>
        </p:nvSpPr>
        <p:spPr>
          <a:xfrm>
            <a:off x="558800" y="64770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88888"/>
                </a:solidFill>
                <a:latin typeface="Aptos" panose="020B0004020202020204" pitchFamily="34" charset="0"/>
              </a:rPr>
              <a:t>Airport Data Warehouse | MySQL ETL | Power 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E6C66-F599-EE53-D6A7-DC90838AB506}"/>
              </a:ext>
            </a:extLst>
          </p:cNvPr>
          <p:cNvSpPr txBox="1"/>
          <p:nvPr/>
        </p:nvSpPr>
        <p:spPr>
          <a:xfrm>
            <a:off x="825500" y="1778000"/>
            <a:ext cx="2794000" cy="3642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700">
                <a:solidFill>
                  <a:srgbClr val="444444"/>
                </a:solidFill>
                <a:latin typeface="Aptos" panose="020B0004020202020204" pitchFamily="34" charset="0"/>
              </a:rPr>
              <a:t>Completed: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63324-C0E3-8840-525E-40E3BB2DB18E}"/>
              </a:ext>
            </a:extLst>
          </p:cNvPr>
          <p:cNvSpPr txBox="1"/>
          <p:nvPr/>
        </p:nvSpPr>
        <p:spPr>
          <a:xfrm>
            <a:off x="825500" y="2260600"/>
            <a:ext cx="5778500" cy="147732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sz="1500">
                <a:solidFill>
                  <a:srgbClr val="444444"/>
                </a:solidFill>
                <a:latin typeface="Aptos" panose="020B0004020202020204" pitchFamily="34" charset="0"/>
              </a:rPr>
              <a:t>• Designed airportdw fact/dimension schema
• Loaded source airportdb into MySQL
• Implemented incremental refresh with ETL control tables
• Added MySQL Event Scheduler scenario
• Created Power BI dashboard views and visuals
• Documented the workflow in Word, SQL files and GitHub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4BB0CA-3050-6D3D-A5D1-6CF7B9E3A68B}"/>
              </a:ext>
            </a:extLst>
          </p:cNvPr>
          <p:cNvSpPr/>
          <p:nvPr/>
        </p:nvSpPr>
        <p:spPr>
          <a:xfrm>
            <a:off x="7112000" y="2095500"/>
            <a:ext cx="4000500" cy="190500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/>
            <a:r>
              <a:rPr lang="en-US">
                <a:solidFill>
                  <a:srgbClr val="303030"/>
                </a:solidFill>
                <a:latin typeface="Aptos" panose="020B0004020202020204" pitchFamily="34" charset="0"/>
              </a:rPr>
              <a:t>Main idea to defend
The solution is realistic because operational data stays in airportdb, analytical data is prepared in airportdw, and synchronization happens incrementally after a business day is safe to report.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D9FB5-21AE-239C-FE16-1F7E6B42B09B}"/>
              </a:ext>
            </a:extLst>
          </p:cNvPr>
          <p:cNvSpPr txBox="1"/>
          <p:nvPr/>
        </p:nvSpPr>
        <p:spPr>
          <a:xfrm>
            <a:off x="7112000" y="4445000"/>
            <a:ext cx="4064000" cy="74892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>
                <a:solidFill>
                  <a:srgbClr val="444444"/>
                </a:solidFill>
                <a:latin typeface="Aptos" panose="020B0004020202020204" pitchFamily="34" charset="0"/>
              </a:rPr>
              <a:t>Optional next step: add the AI/ML analysis requirement later, for example predicting delay risk or revenue patterns.</a:t>
            </a:r>
          </a:p>
        </p:txBody>
      </p:sp>
    </p:spTree>
    <p:extLst>
      <p:ext uri="{BB962C8B-B14F-4D97-AF65-F5344CB8AC3E}">
        <p14:creationId xmlns:p14="http://schemas.microsoft.com/office/powerpoint/2010/main" val="20002903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1236</Words>
  <Application>Microsoft Office PowerPoint</Application>
  <PresentationFormat>Custom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Aptos Display</vt:lpstr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ΦΥΣΕΚΗΣ ΘΩΜΑΣ</cp:lastModifiedBy>
  <cp:revision>2</cp:revision>
  <dcterms:modified xsi:type="dcterms:W3CDTF">2026-05-28T20:13:39Z</dcterms:modified>
</cp:coreProperties>
</file>