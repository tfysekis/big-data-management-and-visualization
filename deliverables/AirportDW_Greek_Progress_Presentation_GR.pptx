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embeddedFontLst>
    <p:embeddedFont>
      <p:font typeface="Consolas" panose="020B0609020204030204" pitchFamily="49" charset="0"/>
      <p:regular r:id="rId17"/>
      <p:bold r:id="rId18"/>
      <p:italic r:id="rId19"/>
      <p:boldItalic r:id="rId20"/>
    </p:embeddedFont>
    <p:embeddedFont>
      <p:font typeface="Play" panose="020B0604020202020204" charset="0"/>
      <p:regular r:id="rId21"/>
      <p:bold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3" roundtripDataSignature="AMtx7mi5qW4vFm+Ydzkdai2sAG58HzAk2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L="914400" lvl="1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marL="1371600" lvl="2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marL="1828800" lvl="3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marL="2286000" lvl="4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marL="2743200" lvl="5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" name="Google Shape;28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29" name="Google Shape;29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" name="Google Shape;55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56" name="Google Shape;56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" name="Google Shape;90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91" name="Google Shape;91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2" name="Google Shape;122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23" name="Google Shape;123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2" name="Google Shape;142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43" name="Google Shape;143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8" name="Google Shape;168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69" name="Google Shape;169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7" name="Google Shape;207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208" name="Google Shape;208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3435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2841"/>
          </a:solidFill>
          <a:ln w="9525" cap="flat" cmpd="sng">
            <a:solidFill>
              <a:srgbClr val="0E28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2385A"/>
          </a:solidFill>
          <a:ln w="9525" cap="flat" cmpd="sng">
            <a:solidFill>
              <a:srgbClr val="1238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590550" y="3429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>
                <a:solidFill>
                  <a:srgbClr val="D9E8F2"/>
                </a:solidFill>
                <a:latin typeface="Arial"/>
                <a:ea typeface="Arial"/>
                <a:cs typeface="Arial"/>
                <a:sym typeface="Arial"/>
              </a:rPr>
              <a:t>DATA WAREHOUSE PROGRESS</a:t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590550" y="1619250"/>
            <a:ext cx="93345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25" b="1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Data Warehouse και Power BI Dashboard με airportdb</a:t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609600" y="3000375"/>
            <a:ext cx="8191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>
                <a:solidFill>
                  <a:srgbClr val="DCE8F2"/>
                </a:solidFill>
                <a:latin typeface="Arial"/>
                <a:ea typeface="Arial"/>
                <a:cs typeface="Arial"/>
                <a:sym typeface="Arial"/>
              </a:rPr>
              <a:t>Σύντομη παρουσίαση προόδου: πηγή δεδομένων, σχήμα DW, συγχρονισμός, σχέσεις πινάκων και επόμενα βήματα.</a:t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609600" y="4953000"/>
            <a:ext cx="2047875" cy="819150"/>
          </a:xfrm>
          <a:prstGeom prst="rect">
            <a:avLst/>
          </a:prstGeom>
          <a:solidFill>
            <a:srgbClr val="FFFFFF">
              <a:alpha val="6274"/>
            </a:srgbClr>
          </a:solidFill>
          <a:ln w="9525" cap="flat" cmpd="sng">
            <a:solidFill>
              <a:srgbClr val="FFFFFF">
                <a:alpha val="3333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781050" y="5076825"/>
            <a:ext cx="16383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54.3M</a:t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781050" y="5410200"/>
            <a:ext cx="1638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3" b="0">
                <a:solidFill>
                  <a:srgbClr val="DCE8F2"/>
                </a:solidFill>
                <a:latin typeface="Arial"/>
                <a:ea typeface="Arial"/>
                <a:cs typeface="Arial"/>
                <a:sym typeface="Arial"/>
              </a:rPr>
              <a:t>κρατήσεις στην πηγή</a:t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781050" y="5638800"/>
            <a:ext cx="723900" cy="38100"/>
          </a:xfrm>
          <a:prstGeom prst="rect">
            <a:avLst/>
          </a:prstGeom>
          <a:solidFill>
            <a:srgbClr val="0F9ED5"/>
          </a:solidFill>
          <a:ln w="9525" cap="flat" cmpd="sng">
            <a:solidFill>
              <a:srgbClr val="0F9E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3295650" y="5410200"/>
            <a:ext cx="1638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E2841"/>
          </a:solidFill>
          <a:ln w="9525" cap="flat" cmpd="sng">
            <a:solidFill>
              <a:srgbClr val="0E28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533400" y="247650"/>
            <a:ext cx="438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8" b="1">
                <a:solidFill>
                  <a:srgbClr val="D9E8F2"/>
                </a:solidFill>
                <a:latin typeface="Arial"/>
                <a:ea typeface="Arial"/>
                <a:cs typeface="Arial"/>
                <a:sym typeface="Arial"/>
              </a:rPr>
              <a:t>ΑΝΤΙΣΤΟΊΧΙΣΗ ΑΠΑΙΤΉΣΕΩΝ</a:t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533400" y="1000125"/>
            <a:ext cx="10096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0E2841"/>
                </a:solidFill>
                <a:latin typeface="Play"/>
                <a:ea typeface="Play"/>
                <a:cs typeface="Play"/>
                <a:sym typeface="Play"/>
              </a:rPr>
              <a:t>Το project καλύπτει τον βασικό DW pipeline· το dashboard είναι το επόμενο βήμα.</a:t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533400" y="1733550"/>
            <a:ext cx="11125200" cy="9525"/>
          </a:xfrm>
          <a:prstGeom prst="rect">
            <a:avLst/>
          </a:prstGeom>
          <a:solidFill>
            <a:srgbClr val="D8E1E8"/>
          </a:solidFill>
          <a:ln w="9525" cap="flat" cmpd="sng">
            <a:solidFill>
              <a:srgbClr val="D8E1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11144250" y="6438900"/>
            <a:ext cx="514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>
                <a:solidFill>
                  <a:srgbClr val="5E6B7A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723900" y="2257425"/>
            <a:ext cx="66675" cy="66675"/>
          </a:xfrm>
          <a:prstGeom prst="rect">
            <a:avLst/>
          </a:prstGeom>
          <a:solidFill>
            <a:srgbClr val="156082"/>
          </a:solidFill>
          <a:ln w="9525" cap="flat" cmpd="sng">
            <a:solidFill>
              <a:srgbClr val="1560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952500" y="2190750"/>
            <a:ext cx="5715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1. Σχεδιασμός Data Warehouse από παραγωγική/source βάση.</a:t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723900" y="2714625"/>
            <a:ext cx="66675" cy="66675"/>
          </a:xfrm>
          <a:prstGeom prst="rect">
            <a:avLst/>
          </a:prstGeom>
          <a:solidFill>
            <a:srgbClr val="156082"/>
          </a:solidFill>
          <a:ln w="9525" cap="flat" cmpd="sng">
            <a:solidFill>
              <a:srgbClr val="1560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952500" y="2647950"/>
            <a:ext cx="5715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2. Μηχανισμός συγχρονισμού από source database προς DW.</a:t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723900" y="3171825"/>
            <a:ext cx="66675" cy="66675"/>
          </a:xfrm>
          <a:prstGeom prst="rect">
            <a:avLst/>
          </a:prstGeom>
          <a:solidFill>
            <a:srgbClr val="156082"/>
          </a:solidFill>
          <a:ln w="9525" cap="flat" cmpd="sng">
            <a:solidFill>
              <a:srgbClr val="1560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952500" y="3105150"/>
            <a:ext cx="5715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3. Δημιουργία Power BI dashboard με τα έτοιμα DW views.</a:t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723900" y="3629025"/>
            <a:ext cx="66675" cy="66675"/>
          </a:xfrm>
          <a:prstGeom prst="rect">
            <a:avLst/>
          </a:prstGeom>
          <a:solidFill>
            <a:srgbClr val="156082"/>
          </a:solidFill>
          <a:ln w="9525" cap="flat" cmpd="sng">
            <a:solidFill>
              <a:srgbClr val="1560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952500" y="3562350"/>
            <a:ext cx="5715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4. AI αλγόριθμος: προαιρετικό, δεν είναι στόχος αυτής της φάσης.</a:t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7239000" y="2152650"/>
            <a:ext cx="3714750" cy="1219200"/>
          </a:xfrm>
          <a:prstGeom prst="rect">
            <a:avLst/>
          </a:prstGeom>
          <a:solidFill>
            <a:srgbClr val="EAF3F8"/>
          </a:solidFill>
          <a:ln w="9525" cap="flat" cmpd="sng">
            <a:solidFill>
              <a:srgbClr val="1560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7239000" y="2152650"/>
            <a:ext cx="66675" cy="1219200"/>
          </a:xfrm>
          <a:prstGeom prst="rect">
            <a:avLst/>
          </a:prstGeom>
          <a:solidFill>
            <a:srgbClr val="156082"/>
          </a:solidFill>
          <a:ln w="9525" cap="flat" cmpd="sng">
            <a:solidFill>
              <a:srgbClr val="1560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7448550" y="2305050"/>
            <a:ext cx="3333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>
                <a:solidFill>
                  <a:srgbClr val="156082"/>
                </a:solidFill>
                <a:latin typeface="Arial"/>
                <a:ea typeface="Arial"/>
                <a:cs typeface="Arial"/>
                <a:sym typeface="Arial"/>
              </a:rPr>
              <a:t>Επιλογή πηγής</a:t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7448550" y="2609850"/>
            <a:ext cx="33147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Χρησιμοποιήσαμε την επίσημη MySQL sample database airportdb ως παραγωγική/source βάση.</a:t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7239000" y="3733800"/>
            <a:ext cx="3714750" cy="1219200"/>
          </a:xfrm>
          <a:prstGeom prst="rect">
            <a:avLst/>
          </a:prstGeom>
          <a:solidFill>
            <a:srgbClr val="FCEDE3"/>
          </a:solidFill>
          <a:ln w="9525" cap="flat" cmpd="sng">
            <a:solidFill>
              <a:srgbClr val="E971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7239000" y="3733800"/>
            <a:ext cx="66675" cy="1219200"/>
          </a:xfrm>
          <a:prstGeom prst="rect">
            <a:avLst/>
          </a:prstGeom>
          <a:solidFill>
            <a:srgbClr val="E97132"/>
          </a:solidFill>
          <a:ln w="9525" cap="flat" cmpd="sng">
            <a:solidFill>
              <a:srgbClr val="E971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7448550" y="3886200"/>
            <a:ext cx="3333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>
                <a:solidFill>
                  <a:srgbClr val="E97132"/>
                </a:solidFill>
                <a:latin typeface="Arial"/>
                <a:ea typeface="Arial"/>
                <a:cs typeface="Arial"/>
                <a:sym typeface="Arial"/>
              </a:rPr>
              <a:t>Τρέχον milestone</a:t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7448550" y="4191000"/>
            <a:ext cx="33147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Το backend, το DW schema, η διαδικασία refresh και η σύνδεση Power BI έχουν ολοκληρωθεί.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"/>
          <p:cNvSpPr/>
          <p:nvPr/>
        </p:nvSpPr>
        <p:spPr>
          <a:xfrm>
            <a:off x="10716" y="0"/>
            <a:ext cx="12192000" cy="6858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E2841"/>
          </a:solidFill>
          <a:ln w="9525" cap="flat" cmpd="sng">
            <a:solidFill>
              <a:srgbClr val="0E28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533400" y="247650"/>
            <a:ext cx="438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8" b="1">
                <a:solidFill>
                  <a:srgbClr val="D9E8F2"/>
                </a:solidFill>
                <a:latin typeface="Arial"/>
                <a:ea typeface="Arial"/>
                <a:cs typeface="Arial"/>
                <a:sym typeface="Arial"/>
              </a:rPr>
              <a:t>ΠΗΓΉ ΔΕΔΟΜΈΝΩΝ</a:t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533400" y="1000125"/>
            <a:ext cx="10096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0E2841"/>
                </a:solidFill>
                <a:latin typeface="Play"/>
                <a:ea typeface="Play"/>
                <a:cs typeface="Play"/>
                <a:sym typeface="Play"/>
              </a:rPr>
              <a:t>Η airportdb λειτουργεί ως ρεαλιστική επιχειρησιακή βάση με αρκετό όγκο για BI.</a:t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533400" y="1733550"/>
            <a:ext cx="11125200" cy="9525"/>
          </a:xfrm>
          <a:prstGeom prst="rect">
            <a:avLst/>
          </a:prstGeom>
          <a:solidFill>
            <a:srgbClr val="D8E1E8"/>
          </a:solidFill>
          <a:ln w="9525" cap="flat" cmpd="sng">
            <a:solidFill>
              <a:srgbClr val="D8E1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11144250" y="6438900"/>
            <a:ext cx="514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>
                <a:solidFill>
                  <a:srgbClr val="5E6B7A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666750" y="2095500"/>
            <a:ext cx="2381250" cy="1200150"/>
          </a:xfrm>
          <a:prstGeom prst="rect">
            <a:avLst/>
          </a:prstGeom>
          <a:solidFill>
            <a:srgbClr val="FCEDE3"/>
          </a:solidFill>
          <a:ln w="9525" cap="flat" cmpd="sng">
            <a:solidFill>
              <a:srgbClr val="E971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666750" y="2095500"/>
            <a:ext cx="66675" cy="1200150"/>
          </a:xfrm>
          <a:prstGeom prst="rect">
            <a:avLst/>
          </a:prstGeom>
          <a:solidFill>
            <a:srgbClr val="E97132"/>
          </a:solidFill>
          <a:ln w="9525" cap="flat" cmpd="sng">
            <a:solidFill>
              <a:srgbClr val="E971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876300" y="224790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>
                <a:solidFill>
                  <a:srgbClr val="E97132"/>
                </a:solidFill>
                <a:latin typeface="Arial"/>
                <a:ea typeface="Arial"/>
                <a:cs typeface="Arial"/>
                <a:sym typeface="Arial"/>
              </a:rPr>
              <a:t>booking</a:t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876300" y="2552700"/>
            <a:ext cx="19812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54,304,619 rows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Έσοδα και ζήτηση κρατήσεων</a:t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3524250" y="2095500"/>
            <a:ext cx="2381250" cy="1200150"/>
          </a:xfrm>
          <a:prstGeom prst="rect">
            <a:avLst/>
          </a:prstGeom>
          <a:solidFill>
            <a:srgbClr val="EAF3F8"/>
          </a:solidFill>
          <a:ln w="9525" cap="flat" cmpd="sng">
            <a:solidFill>
              <a:srgbClr val="1560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3524250" y="2095500"/>
            <a:ext cx="66675" cy="1200150"/>
          </a:xfrm>
          <a:prstGeom prst="rect">
            <a:avLst/>
          </a:prstGeom>
          <a:solidFill>
            <a:srgbClr val="156082"/>
          </a:solidFill>
          <a:ln w="9525" cap="flat" cmpd="sng">
            <a:solidFill>
              <a:srgbClr val="1560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3733800" y="224790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>
                <a:solidFill>
                  <a:srgbClr val="156082"/>
                </a:solidFill>
                <a:latin typeface="Arial"/>
                <a:ea typeface="Arial"/>
                <a:cs typeface="Arial"/>
                <a:sym typeface="Arial"/>
              </a:rPr>
              <a:t>flight</a:t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3733800" y="2552700"/>
            <a:ext cx="19812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462,553 rows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Λειτουργική δραστηριότητα πτήσεων</a:t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6381750" y="2095500"/>
            <a:ext cx="2381250" cy="1200150"/>
          </a:xfrm>
          <a:prstGeom prst="rect">
            <a:avLst/>
          </a:prstGeom>
          <a:solidFill>
            <a:srgbClr val="E9F4EA"/>
          </a:solidFill>
          <a:ln w="9525" cap="flat" cmpd="sng">
            <a:solidFill>
              <a:srgbClr val="196B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6381750" y="2095500"/>
            <a:ext cx="66675" cy="1200150"/>
          </a:xfrm>
          <a:prstGeom prst="rect">
            <a:avLst/>
          </a:prstGeom>
          <a:solidFill>
            <a:srgbClr val="196B24"/>
          </a:solidFill>
          <a:ln w="9525" cap="flat" cmpd="sng">
            <a:solidFill>
              <a:srgbClr val="196B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6591300" y="224790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>
                <a:solidFill>
                  <a:srgbClr val="196B24"/>
                </a:solidFill>
                <a:latin typeface="Arial"/>
                <a:ea typeface="Arial"/>
                <a:cs typeface="Arial"/>
                <a:sym typeface="Arial"/>
              </a:rPr>
              <a:t>weatherdata</a:t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6591300" y="2552700"/>
            <a:ext cx="19812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4,626,432 rows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Καιρικές μετρήσεις</a:t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9239250" y="2095500"/>
            <a:ext cx="2000250" cy="1200150"/>
          </a:xfrm>
          <a:prstGeom prst="rect">
            <a:avLst/>
          </a:prstGeom>
          <a:solidFill>
            <a:srgbClr val="EAF3F8"/>
          </a:solidFill>
          <a:ln w="9525" cap="flat" cmpd="sng">
            <a:solidFill>
              <a:srgbClr val="0F9E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9239250" y="2095500"/>
            <a:ext cx="66675" cy="1200150"/>
          </a:xfrm>
          <a:prstGeom prst="rect">
            <a:avLst/>
          </a:prstGeom>
          <a:solidFill>
            <a:srgbClr val="0F9ED5"/>
          </a:solidFill>
          <a:ln w="9525" cap="flat" cmpd="sng">
            <a:solidFill>
              <a:srgbClr val="0F9E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9448800" y="224790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>
                <a:solidFill>
                  <a:srgbClr val="0F9ED5"/>
                </a:solidFill>
                <a:latin typeface="Arial"/>
                <a:ea typeface="Arial"/>
                <a:cs typeface="Arial"/>
                <a:sym typeface="Arial"/>
              </a:rPr>
              <a:t>airport</a:t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9448800" y="2552700"/>
            <a:ext cx="16002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9,854 rows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Γεωγραφική ανάλυση</a:t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1428750" y="3810000"/>
            <a:ext cx="4095750" cy="1295400"/>
          </a:xfrm>
          <a:prstGeom prst="rect">
            <a:avLst/>
          </a:prstGeom>
          <a:solidFill>
            <a:srgbClr val="EAF3F8"/>
          </a:solidFill>
          <a:ln w="9525" cap="flat" cmpd="sng">
            <a:solidFill>
              <a:srgbClr val="1560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1428750" y="3810000"/>
            <a:ext cx="66675" cy="1295400"/>
          </a:xfrm>
          <a:prstGeom prst="rect">
            <a:avLst/>
          </a:prstGeom>
          <a:solidFill>
            <a:srgbClr val="156082"/>
          </a:solidFill>
          <a:ln w="9525" cap="flat" cmpd="sng">
            <a:solidFill>
              <a:srgbClr val="1560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1638300" y="3962400"/>
            <a:ext cx="3714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>
                <a:solidFill>
                  <a:srgbClr val="156082"/>
                </a:solidFill>
                <a:latin typeface="Arial"/>
                <a:ea typeface="Arial"/>
                <a:cs typeface="Arial"/>
                <a:sym typeface="Arial"/>
              </a:rPr>
              <a:t>Γιατί όχι απευθείας Power BI;</a:t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1638300" y="4267200"/>
            <a:ext cx="36957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Η πηγή έχει raw operational tables και πολύ μεγάλο booking table. Για dashboard χρειαζόμαστε καθαρότερο αναλυτικό μοντέλο.</a:t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6667500" y="3810000"/>
            <a:ext cx="4095750" cy="1295400"/>
          </a:xfrm>
          <a:prstGeom prst="rect">
            <a:avLst/>
          </a:prstGeom>
          <a:solidFill>
            <a:srgbClr val="FCEDE3"/>
          </a:solidFill>
          <a:ln w="9525" cap="flat" cmpd="sng">
            <a:solidFill>
              <a:srgbClr val="E971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6667500" y="3810000"/>
            <a:ext cx="66675" cy="1295400"/>
          </a:xfrm>
          <a:prstGeom prst="rect">
            <a:avLst/>
          </a:prstGeom>
          <a:solidFill>
            <a:srgbClr val="E97132"/>
          </a:solidFill>
          <a:ln w="9525" cap="flat" cmpd="sng">
            <a:solidFill>
              <a:srgbClr val="E971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6877050" y="3962400"/>
            <a:ext cx="3714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>
                <a:solidFill>
                  <a:srgbClr val="E97132"/>
                </a:solidFill>
                <a:latin typeface="Arial"/>
                <a:ea typeface="Arial"/>
                <a:cs typeface="Arial"/>
                <a:sym typeface="Arial"/>
              </a:rPr>
              <a:t>Απόφαση</a:t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6877050" y="4267200"/>
            <a:ext cx="36957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Φτιάχνουμε ξεχωριστή airportdw βάση, ώστε τα reports να δουλεύουν πάνω σε dimensions</a:t>
            </a:r>
            <a:r>
              <a:rPr lang="en-US" sz="1125">
                <a:solidFill>
                  <a:srgbClr val="17324D"/>
                </a:solidFill>
              </a:rPr>
              <a:t> και facts.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E2841"/>
          </a:solidFill>
          <a:ln w="9525" cap="flat" cmpd="sng">
            <a:solidFill>
              <a:srgbClr val="0E28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533400" y="247650"/>
            <a:ext cx="438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8" b="1">
                <a:solidFill>
                  <a:srgbClr val="D9E8F2"/>
                </a:solidFill>
                <a:latin typeface="Arial"/>
                <a:ea typeface="Arial"/>
                <a:cs typeface="Arial"/>
                <a:sym typeface="Arial"/>
              </a:rPr>
              <a:t>ΑΡΧΙΤΕΚΤΟΝΙΚΉ</a:t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533400" y="1000125"/>
            <a:ext cx="10096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0E2841"/>
                </a:solidFill>
                <a:latin typeface="Play"/>
                <a:ea typeface="Play"/>
                <a:cs typeface="Play"/>
                <a:sym typeface="Play"/>
              </a:rPr>
              <a:t>Χωρίζουμε την operational πηγή από το analytical/reporting layer.</a:t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533400" y="1733550"/>
            <a:ext cx="11125200" cy="9525"/>
          </a:xfrm>
          <a:prstGeom prst="rect">
            <a:avLst/>
          </a:prstGeom>
          <a:solidFill>
            <a:srgbClr val="D8E1E8"/>
          </a:solidFill>
          <a:ln w="9525" cap="flat" cmpd="sng">
            <a:solidFill>
              <a:srgbClr val="D8E1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11144250" y="6438900"/>
            <a:ext cx="514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>
                <a:solidFill>
                  <a:srgbClr val="5E6B7A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99" name="Google Shape;99;p4"/>
          <p:cNvSpPr/>
          <p:nvPr/>
        </p:nvSpPr>
        <p:spPr>
          <a:xfrm>
            <a:off x="533400" y="2143125"/>
            <a:ext cx="2143125" cy="1381125"/>
          </a:xfrm>
          <a:prstGeom prst="rect">
            <a:avLst/>
          </a:prstGeom>
          <a:solidFill>
            <a:srgbClr val="EAF3F8"/>
          </a:solidFill>
          <a:ln w="9525" cap="flat" cmpd="sng">
            <a:solidFill>
              <a:srgbClr val="1560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533400" y="2143125"/>
            <a:ext cx="66675" cy="1381125"/>
          </a:xfrm>
          <a:prstGeom prst="rect">
            <a:avLst/>
          </a:prstGeom>
          <a:solidFill>
            <a:srgbClr val="156082"/>
          </a:solidFill>
          <a:ln w="9525" cap="flat" cmpd="sng">
            <a:solidFill>
              <a:srgbClr val="1560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742950" y="2295525"/>
            <a:ext cx="17621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>
                <a:solidFill>
                  <a:srgbClr val="156082"/>
                </a:solidFill>
                <a:latin typeface="Arial"/>
                <a:ea typeface="Arial"/>
                <a:cs typeface="Arial"/>
                <a:sym typeface="Arial"/>
              </a:rPr>
              <a:t>airportdb</a:t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742950" y="2600325"/>
            <a:ext cx="1743075" cy="695325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Source / OLTP database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Raw operational tables</a:t>
            </a: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2857500" y="2609850"/>
            <a:ext cx="5143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 b="1">
                <a:solidFill>
                  <a:srgbClr val="5E6B7A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3543300" y="2143125"/>
            <a:ext cx="2333625" cy="1381125"/>
          </a:xfrm>
          <a:prstGeom prst="rect">
            <a:avLst/>
          </a:prstGeom>
          <a:solidFill>
            <a:srgbClr val="FCEDE3"/>
          </a:solidFill>
          <a:ln w="9525" cap="flat" cmpd="sng">
            <a:solidFill>
              <a:srgbClr val="E971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3543300" y="2143125"/>
            <a:ext cx="66675" cy="1381125"/>
          </a:xfrm>
          <a:prstGeom prst="rect">
            <a:avLst/>
          </a:prstGeom>
          <a:solidFill>
            <a:srgbClr val="E97132"/>
          </a:solidFill>
          <a:ln w="9525" cap="flat" cmpd="sng">
            <a:solidFill>
              <a:srgbClr val="E971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3752850" y="2295525"/>
            <a:ext cx="19526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>
                <a:solidFill>
                  <a:srgbClr val="E97132"/>
                </a:solidFill>
                <a:latin typeface="Arial"/>
                <a:ea typeface="Arial"/>
                <a:cs typeface="Arial"/>
                <a:sym typeface="Arial"/>
              </a:rPr>
              <a:t>refresh_airportdw()</a:t>
            </a: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3752850" y="2600325"/>
            <a:ext cx="1933575" cy="695325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ETL procedure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Extract, transform, load</a:t>
            </a: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6096000" y="2609850"/>
            <a:ext cx="5143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 b="1">
                <a:solidFill>
                  <a:srgbClr val="5E6B7A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6762750" y="2143125"/>
            <a:ext cx="2143125" cy="1381125"/>
          </a:xfrm>
          <a:prstGeom prst="rect">
            <a:avLst/>
          </a:prstGeom>
          <a:solidFill>
            <a:srgbClr val="E9F4EA"/>
          </a:solidFill>
          <a:ln w="9525" cap="flat" cmpd="sng">
            <a:solidFill>
              <a:srgbClr val="196B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6762750" y="2143125"/>
            <a:ext cx="66675" cy="1381125"/>
          </a:xfrm>
          <a:prstGeom prst="rect">
            <a:avLst/>
          </a:prstGeom>
          <a:solidFill>
            <a:srgbClr val="196B24"/>
          </a:solidFill>
          <a:ln w="9525" cap="flat" cmpd="sng">
            <a:solidFill>
              <a:srgbClr val="196B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"/>
          <p:cNvSpPr/>
          <p:nvPr/>
        </p:nvSpPr>
        <p:spPr>
          <a:xfrm>
            <a:off x="6972300" y="2295525"/>
            <a:ext cx="17621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>
                <a:solidFill>
                  <a:srgbClr val="196B24"/>
                </a:solidFill>
                <a:latin typeface="Arial"/>
                <a:ea typeface="Arial"/>
                <a:cs typeface="Arial"/>
                <a:sym typeface="Arial"/>
              </a:rPr>
              <a:t>airportdw</a:t>
            </a: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6972300" y="2600325"/>
            <a:ext cx="1743075" cy="695325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Data Warehouse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Dimensions, facts, views</a:t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9086850" y="2609850"/>
            <a:ext cx="5143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 b="1">
                <a:solidFill>
                  <a:srgbClr val="5E6B7A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9763125" y="2143125"/>
            <a:ext cx="1905000" cy="1381125"/>
          </a:xfrm>
          <a:prstGeom prst="rect">
            <a:avLst/>
          </a:prstGeom>
          <a:solidFill>
            <a:srgbClr val="EAF3F8"/>
          </a:solidFill>
          <a:ln w="9525" cap="flat" cmpd="sng">
            <a:solidFill>
              <a:srgbClr val="0F9E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9763125" y="2143125"/>
            <a:ext cx="66675" cy="1381125"/>
          </a:xfrm>
          <a:prstGeom prst="rect">
            <a:avLst/>
          </a:prstGeom>
          <a:solidFill>
            <a:srgbClr val="0F9ED5"/>
          </a:solidFill>
          <a:ln w="9525" cap="flat" cmpd="sng">
            <a:solidFill>
              <a:srgbClr val="0F9E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"/>
          <p:cNvSpPr/>
          <p:nvPr/>
        </p:nvSpPr>
        <p:spPr>
          <a:xfrm>
            <a:off x="9972675" y="2295525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>
                <a:solidFill>
                  <a:srgbClr val="0F9ED5"/>
                </a:solidFill>
                <a:latin typeface="Arial"/>
                <a:ea typeface="Arial"/>
                <a:cs typeface="Arial"/>
                <a:sym typeface="Arial"/>
              </a:rPr>
              <a:t>Power BI</a:t>
            </a:r>
            <a:endParaRPr/>
          </a:p>
        </p:txBody>
      </p:sp>
      <p:sp>
        <p:nvSpPr>
          <p:cNvPr id="117" name="Google Shape;117;p4"/>
          <p:cNvSpPr/>
          <p:nvPr/>
        </p:nvSpPr>
        <p:spPr>
          <a:xfrm>
            <a:off x="9972675" y="2600325"/>
            <a:ext cx="1504950" cy="695325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Dashboard layer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Interactive reporting</a:t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2238375" y="4333875"/>
            <a:ext cx="7715250" cy="1219200"/>
          </a:xfrm>
          <a:prstGeom prst="rect">
            <a:avLst/>
          </a:prstGeom>
          <a:solidFill>
            <a:srgbClr val="102A43"/>
          </a:solidFill>
          <a:ln w="9525" cap="flat" cmpd="sng">
            <a:solidFill>
              <a:srgbClr val="102A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4"/>
          <p:cNvSpPr/>
          <p:nvPr/>
        </p:nvSpPr>
        <p:spPr>
          <a:xfrm>
            <a:off x="2409825" y="4486275"/>
            <a:ext cx="737235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3" b="0">
                <a:solidFill>
                  <a:srgbClr val="F2F7FA"/>
                </a:solidFill>
                <a:latin typeface="Consolas"/>
                <a:ea typeface="Consolas"/>
                <a:cs typeface="Consolas"/>
                <a:sym typeface="Consolas"/>
              </a:rPr>
              <a:t>DROP DATABASE IF EXISTS airportdw;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3" b="0">
                <a:solidFill>
                  <a:srgbClr val="F2F7FA"/>
                </a:solidFill>
                <a:latin typeface="Consolas"/>
                <a:ea typeface="Consolas"/>
                <a:cs typeface="Consolas"/>
                <a:sym typeface="Consolas"/>
              </a:rPr>
              <a:t>CREATE DATABASE airportdw;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3" b="0">
                <a:solidFill>
                  <a:srgbClr val="F2F7FA"/>
                </a:solidFill>
                <a:latin typeface="Consolas"/>
                <a:ea typeface="Consolas"/>
                <a:cs typeface="Consolas"/>
                <a:sym typeface="Consolas"/>
              </a:rPr>
              <a:t>USE airportdw;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13" b="0">
              <a:solidFill>
                <a:srgbClr val="F2F7F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3" b="0">
                <a:solidFill>
                  <a:srgbClr val="F2F7FA"/>
                </a:solidFill>
                <a:latin typeface="Consolas"/>
                <a:ea typeface="Consolas"/>
                <a:cs typeface="Consolas"/>
                <a:sym typeface="Consolas"/>
              </a:rPr>
              <a:t>CALL refresh_airportdw();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E2841"/>
          </a:solidFill>
          <a:ln w="9525" cap="flat" cmpd="sng">
            <a:solidFill>
              <a:srgbClr val="0E28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533400" y="247650"/>
            <a:ext cx="438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8" b="1">
                <a:solidFill>
                  <a:srgbClr val="D9E8F2"/>
                </a:solidFill>
                <a:latin typeface="Arial"/>
                <a:ea typeface="Arial"/>
                <a:cs typeface="Arial"/>
                <a:sym typeface="Arial"/>
              </a:rPr>
              <a:t>ΣΧΈΣΕΙΣ ΠΙΝΆΚΩΝ</a:t>
            </a:r>
            <a:endParaRPr/>
          </a:p>
        </p:txBody>
      </p:sp>
      <p:sp>
        <p:nvSpPr>
          <p:cNvPr id="127" name="Google Shape;127;p5"/>
          <p:cNvSpPr/>
          <p:nvPr/>
        </p:nvSpPr>
        <p:spPr>
          <a:xfrm>
            <a:off x="533400" y="1000125"/>
            <a:ext cx="10096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0E2841"/>
                </a:solidFill>
                <a:latin typeface="Play"/>
                <a:ea typeface="Play"/>
                <a:cs typeface="Play"/>
                <a:sym typeface="Play"/>
              </a:rPr>
              <a:t>Το διάγραμμα δείχνει πώς τα γεγονότα συνδέονται με τις διαστάσεις ανάλυσης.</a:t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533400" y="1733550"/>
            <a:ext cx="11125200" cy="9525"/>
          </a:xfrm>
          <a:prstGeom prst="rect">
            <a:avLst/>
          </a:prstGeom>
          <a:solidFill>
            <a:srgbClr val="D8E1E8"/>
          </a:solidFill>
          <a:ln w="9525" cap="flat" cmpd="sng">
            <a:solidFill>
              <a:srgbClr val="D8E1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11144250" y="6438900"/>
            <a:ext cx="514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>
                <a:solidFill>
                  <a:srgbClr val="5E6B7A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130" name="Google Shape;130;p5"/>
          <p:cNvSpPr/>
          <p:nvPr/>
        </p:nvSpPr>
        <p:spPr>
          <a:xfrm>
            <a:off x="533400" y="1952625"/>
            <a:ext cx="6191250" cy="481012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8E1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1" name="Google Shape;131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3553" y="2047875"/>
            <a:ext cx="5970944" cy="461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5"/>
          <p:cNvSpPr/>
          <p:nvPr/>
        </p:nvSpPr>
        <p:spPr>
          <a:xfrm>
            <a:off x="7162800" y="2521150"/>
            <a:ext cx="4191000" cy="1104900"/>
          </a:xfrm>
          <a:prstGeom prst="rect">
            <a:avLst/>
          </a:prstGeom>
          <a:solidFill>
            <a:srgbClr val="EAF3F8"/>
          </a:solidFill>
          <a:ln w="9525" cap="flat" cmpd="sng">
            <a:solidFill>
              <a:srgbClr val="1560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7162800" y="2521150"/>
            <a:ext cx="66600" cy="1104900"/>
          </a:xfrm>
          <a:prstGeom prst="rect">
            <a:avLst/>
          </a:prstGeom>
          <a:solidFill>
            <a:srgbClr val="156082"/>
          </a:solidFill>
          <a:ln w="9525" cap="flat" cmpd="sng">
            <a:solidFill>
              <a:srgbClr val="1560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5"/>
          <p:cNvSpPr/>
          <p:nvPr/>
        </p:nvSpPr>
        <p:spPr>
          <a:xfrm>
            <a:off x="7372350" y="2673550"/>
            <a:ext cx="3810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>
                <a:solidFill>
                  <a:srgbClr val="156082"/>
                </a:solidFill>
                <a:latin typeface="Arial"/>
                <a:ea typeface="Arial"/>
                <a:cs typeface="Arial"/>
                <a:sym typeface="Arial"/>
              </a:rPr>
              <a:t>Πώς διαβάζεται;</a:t>
            </a:r>
            <a:endParaRPr/>
          </a:p>
        </p:txBody>
      </p:sp>
      <p:sp>
        <p:nvSpPr>
          <p:cNvPr id="135" name="Google Shape;135;p5"/>
          <p:cNvSpPr/>
          <p:nvPr/>
        </p:nvSpPr>
        <p:spPr>
          <a:xfrm>
            <a:off x="7372350" y="2978350"/>
            <a:ext cx="37911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Οι fact_* πίνακες είναι τα γεγονότα. Οι dim_* πίνακες είναι το πλαίσιο: χρόνος, αεροδρόμιο, route, εταιρεία, αεροπλάνο.</a:t>
            </a:r>
            <a:endParaRPr/>
          </a:p>
        </p:txBody>
      </p:sp>
      <p:sp>
        <p:nvSpPr>
          <p:cNvPr id="136" name="Google Shape;136;p5"/>
          <p:cNvSpPr/>
          <p:nvPr/>
        </p:nvSpPr>
        <p:spPr>
          <a:xfrm>
            <a:off x="7162800" y="4404125"/>
            <a:ext cx="4191000" cy="1162200"/>
          </a:xfrm>
          <a:prstGeom prst="rect">
            <a:avLst/>
          </a:prstGeom>
          <a:solidFill>
            <a:srgbClr val="E9F4EA"/>
          </a:solidFill>
          <a:ln w="9525" cap="flat" cmpd="sng">
            <a:solidFill>
              <a:srgbClr val="196B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7162800" y="4404125"/>
            <a:ext cx="66600" cy="1162200"/>
          </a:xfrm>
          <a:prstGeom prst="rect">
            <a:avLst/>
          </a:prstGeom>
          <a:solidFill>
            <a:srgbClr val="196B24"/>
          </a:solidFill>
          <a:ln w="9525" cap="flat" cmpd="sng">
            <a:solidFill>
              <a:srgbClr val="196B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5"/>
          <p:cNvSpPr/>
          <p:nvPr/>
        </p:nvSpPr>
        <p:spPr>
          <a:xfrm>
            <a:off x="7372350" y="4556525"/>
            <a:ext cx="3810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>
                <a:solidFill>
                  <a:srgbClr val="196B24"/>
                </a:solidFill>
                <a:latin typeface="Arial"/>
                <a:ea typeface="Arial"/>
                <a:cs typeface="Arial"/>
                <a:sym typeface="Arial"/>
              </a:rPr>
              <a:t>Τι σχέσεις είναι;</a:t>
            </a:r>
            <a:endParaRPr/>
          </a:p>
        </p:txBody>
      </p:sp>
      <p:sp>
        <p:nvSpPr>
          <p:cNvPr id="139" name="Google Shape;139;p5"/>
          <p:cNvSpPr/>
          <p:nvPr/>
        </p:nvSpPr>
        <p:spPr>
          <a:xfrm>
            <a:off x="7372350" y="4861325"/>
            <a:ext cx="3791100" cy="47640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Σχεδόν όλες είναι many-to-one: πολλές πτήσεις ή κρατήσεις συνδέονται με μία ημερομηνία, μία εταιρεία, μία διαδρομή κτλ.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E2841"/>
          </a:solidFill>
          <a:ln w="9525" cap="flat" cmpd="sng">
            <a:solidFill>
              <a:srgbClr val="0E28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6"/>
          <p:cNvSpPr/>
          <p:nvPr/>
        </p:nvSpPr>
        <p:spPr>
          <a:xfrm>
            <a:off x="533400" y="247650"/>
            <a:ext cx="438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8" b="1">
                <a:solidFill>
                  <a:srgbClr val="D9E8F2"/>
                </a:solidFill>
                <a:latin typeface="Arial"/>
                <a:ea typeface="Arial"/>
                <a:cs typeface="Arial"/>
                <a:sym typeface="Arial"/>
              </a:rPr>
              <a:t>ΠΏΣ ΦΤΙΆΧΤΗΚΑΝ ΟΙ DIMENSIONS</a:t>
            </a: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533400" y="1000125"/>
            <a:ext cx="10096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0E2841"/>
                </a:solidFill>
                <a:latin typeface="Play"/>
                <a:ea typeface="Play"/>
                <a:cs typeface="Play"/>
                <a:sym typeface="Play"/>
              </a:rPr>
              <a:t>Οι dimensions δεν είναι απλή αντιγραφή· καθαρίζουν και ενώνουν source tables ώστε να δίνουν πλαίσιο ανάλυσης.</a:t>
            </a:r>
            <a:endParaRPr/>
          </a:p>
        </p:txBody>
      </p:sp>
      <p:sp>
        <p:nvSpPr>
          <p:cNvPr id="148" name="Google Shape;148;p6"/>
          <p:cNvSpPr/>
          <p:nvPr/>
        </p:nvSpPr>
        <p:spPr>
          <a:xfrm>
            <a:off x="533400" y="1733550"/>
            <a:ext cx="11125200" cy="9525"/>
          </a:xfrm>
          <a:prstGeom prst="rect">
            <a:avLst/>
          </a:prstGeom>
          <a:solidFill>
            <a:srgbClr val="D8E1E8"/>
          </a:solidFill>
          <a:ln w="9525" cap="flat" cmpd="sng">
            <a:solidFill>
              <a:srgbClr val="D8E1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11144250" y="6438900"/>
            <a:ext cx="514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>
                <a:solidFill>
                  <a:srgbClr val="5E6B7A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150" name="Google Shape;150;p6"/>
          <p:cNvSpPr/>
          <p:nvPr/>
        </p:nvSpPr>
        <p:spPr>
          <a:xfrm>
            <a:off x="590513" y="2364600"/>
            <a:ext cx="5191200" cy="1124100"/>
          </a:xfrm>
          <a:prstGeom prst="rect">
            <a:avLst/>
          </a:prstGeom>
          <a:solidFill>
            <a:srgbClr val="EAF3F8"/>
          </a:solidFill>
          <a:ln w="9525" cap="flat" cmpd="sng">
            <a:solidFill>
              <a:srgbClr val="1560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6"/>
          <p:cNvSpPr/>
          <p:nvPr/>
        </p:nvSpPr>
        <p:spPr>
          <a:xfrm>
            <a:off x="590513" y="2364600"/>
            <a:ext cx="66600" cy="1124100"/>
          </a:xfrm>
          <a:prstGeom prst="rect">
            <a:avLst/>
          </a:prstGeom>
          <a:solidFill>
            <a:srgbClr val="156082"/>
          </a:solidFill>
          <a:ln w="9525" cap="flat" cmpd="sng">
            <a:solidFill>
              <a:srgbClr val="1560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6"/>
          <p:cNvSpPr/>
          <p:nvPr/>
        </p:nvSpPr>
        <p:spPr>
          <a:xfrm>
            <a:off x="800063" y="2517000"/>
            <a:ext cx="4810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>
                <a:solidFill>
                  <a:srgbClr val="156082"/>
                </a:solidFill>
                <a:latin typeface="Arial"/>
                <a:ea typeface="Arial"/>
                <a:cs typeface="Arial"/>
                <a:sym typeface="Arial"/>
              </a:rPr>
              <a:t>dim_airport</a:t>
            </a:r>
            <a:endParaRPr/>
          </a:p>
        </p:txBody>
      </p:sp>
      <p:sp>
        <p:nvSpPr>
          <p:cNvPr id="153" name="Google Shape;153;p6"/>
          <p:cNvSpPr/>
          <p:nvPr/>
        </p:nvSpPr>
        <p:spPr>
          <a:xfrm>
            <a:off x="800063" y="2821800"/>
            <a:ext cx="4791000" cy="43830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Source: airport + airport_geo με LEFT JOIN. Κρατάμε όλα τα αεροδρόμια ακόμη και αν λείπει city/country/latitude/longitude.</a:t>
            </a: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6410288" y="2364600"/>
            <a:ext cx="5191200" cy="1124100"/>
          </a:xfrm>
          <a:prstGeom prst="rect">
            <a:avLst/>
          </a:prstGeom>
          <a:solidFill>
            <a:srgbClr val="E9F4EA"/>
          </a:solidFill>
          <a:ln w="9525" cap="flat" cmpd="sng">
            <a:solidFill>
              <a:srgbClr val="196B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6"/>
          <p:cNvSpPr/>
          <p:nvPr/>
        </p:nvSpPr>
        <p:spPr>
          <a:xfrm>
            <a:off x="6410288" y="2364600"/>
            <a:ext cx="66600" cy="1124100"/>
          </a:xfrm>
          <a:prstGeom prst="rect">
            <a:avLst/>
          </a:prstGeom>
          <a:solidFill>
            <a:srgbClr val="196B24"/>
          </a:solidFill>
          <a:ln w="9525" cap="flat" cmpd="sng">
            <a:solidFill>
              <a:srgbClr val="196B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6"/>
          <p:cNvSpPr/>
          <p:nvPr/>
        </p:nvSpPr>
        <p:spPr>
          <a:xfrm>
            <a:off x="6619838" y="2517000"/>
            <a:ext cx="4810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>
                <a:solidFill>
                  <a:srgbClr val="196B24"/>
                </a:solidFill>
                <a:latin typeface="Arial"/>
                <a:ea typeface="Arial"/>
                <a:cs typeface="Arial"/>
                <a:sym typeface="Arial"/>
              </a:rPr>
              <a:t>dim_airline</a:t>
            </a:r>
            <a:endParaRPr/>
          </a:p>
        </p:txBody>
      </p:sp>
      <p:sp>
        <p:nvSpPr>
          <p:cNvPr id="157" name="Google Shape;157;p6"/>
          <p:cNvSpPr/>
          <p:nvPr/>
        </p:nvSpPr>
        <p:spPr>
          <a:xfrm>
            <a:off x="6619838" y="2821800"/>
            <a:ext cx="4791000" cy="43830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Source: airline + dim_airport. Κρατάμε όλες τις αεροπορικές</a:t>
            </a:r>
            <a:r>
              <a:rPr lang="en-US" sz="1125">
                <a:solidFill>
                  <a:srgbClr val="17324D"/>
                </a:solidFill>
              </a:rPr>
              <a:t>.</a:t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590513" y="3793350"/>
            <a:ext cx="5191200" cy="1238400"/>
          </a:xfrm>
          <a:prstGeom prst="rect">
            <a:avLst/>
          </a:prstGeom>
          <a:solidFill>
            <a:srgbClr val="FCEDE3"/>
          </a:solidFill>
          <a:ln w="9525" cap="flat" cmpd="sng">
            <a:solidFill>
              <a:srgbClr val="E971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6"/>
          <p:cNvSpPr/>
          <p:nvPr/>
        </p:nvSpPr>
        <p:spPr>
          <a:xfrm>
            <a:off x="590513" y="3793350"/>
            <a:ext cx="66600" cy="1238400"/>
          </a:xfrm>
          <a:prstGeom prst="rect">
            <a:avLst/>
          </a:prstGeom>
          <a:solidFill>
            <a:srgbClr val="E97132"/>
          </a:solidFill>
          <a:ln w="9525" cap="flat" cmpd="sng">
            <a:solidFill>
              <a:srgbClr val="E971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6"/>
          <p:cNvSpPr/>
          <p:nvPr/>
        </p:nvSpPr>
        <p:spPr>
          <a:xfrm>
            <a:off x="800063" y="3945750"/>
            <a:ext cx="4810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>
                <a:solidFill>
                  <a:srgbClr val="E97132"/>
                </a:solidFill>
                <a:latin typeface="Arial"/>
                <a:ea typeface="Arial"/>
                <a:cs typeface="Arial"/>
                <a:sym typeface="Arial"/>
              </a:rPr>
              <a:t>dim_airplane</a:t>
            </a: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800063" y="4250550"/>
            <a:ext cx="4791000" cy="55260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Source: airplane + airplane_type + airline. Έτσι κάθε αεροπλάνο έχει capacity, type identifier/description και airline name.</a:t>
            </a: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6410288" y="3793350"/>
            <a:ext cx="5191200" cy="1238400"/>
          </a:xfrm>
          <a:prstGeom prst="rect">
            <a:avLst/>
          </a:prstGeom>
          <a:solidFill>
            <a:srgbClr val="EAF3F8"/>
          </a:solidFill>
          <a:ln w="9525" cap="flat" cmpd="sng">
            <a:solidFill>
              <a:srgbClr val="0F9E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6"/>
          <p:cNvSpPr/>
          <p:nvPr/>
        </p:nvSpPr>
        <p:spPr>
          <a:xfrm>
            <a:off x="6410288" y="3793350"/>
            <a:ext cx="66600" cy="1238400"/>
          </a:xfrm>
          <a:prstGeom prst="rect">
            <a:avLst/>
          </a:prstGeom>
          <a:solidFill>
            <a:srgbClr val="0F9ED5"/>
          </a:solidFill>
          <a:ln w="9525" cap="flat" cmpd="sng">
            <a:solidFill>
              <a:srgbClr val="0F9E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6619838" y="3945750"/>
            <a:ext cx="4810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>
                <a:solidFill>
                  <a:srgbClr val="0F9ED5"/>
                </a:solidFill>
                <a:latin typeface="Arial"/>
                <a:ea typeface="Arial"/>
                <a:cs typeface="Arial"/>
                <a:sym typeface="Arial"/>
              </a:rPr>
              <a:t>dim_route</a:t>
            </a:r>
            <a:endParaRPr/>
          </a:p>
        </p:txBody>
      </p:sp>
      <p:sp>
        <p:nvSpPr>
          <p:cNvPr id="165" name="Google Shape;165;p6"/>
          <p:cNvSpPr/>
          <p:nvPr/>
        </p:nvSpPr>
        <p:spPr>
          <a:xfrm>
            <a:off x="6619838" y="4250550"/>
            <a:ext cx="4791000" cy="55260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Source:airportdb.flight distinct flight from/to. Φτιάχνουμε μοναδικές διαδρομές και τις ενώνουμε με dim_airport για origin/destination labels.</a:t>
            </a:r>
            <a:endParaRPr sz="1125" b="0">
              <a:solidFill>
                <a:srgbClr val="17324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2400" lvl="0" indent="0" algn="l" rtl="0">
              <a:lnSpc>
                <a:spcPct val="157142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50" i="1">
              <a:solidFill>
                <a:srgbClr val="FFFFFF"/>
              </a:solidFill>
              <a:highlight>
                <a:srgbClr val="181818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25">
              <a:solidFill>
                <a:srgbClr val="17324D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E2841"/>
          </a:solidFill>
          <a:ln w="9525" cap="flat" cmpd="sng">
            <a:solidFill>
              <a:srgbClr val="0E28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7"/>
          <p:cNvSpPr/>
          <p:nvPr/>
        </p:nvSpPr>
        <p:spPr>
          <a:xfrm>
            <a:off x="533400" y="247650"/>
            <a:ext cx="438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8" b="1">
                <a:solidFill>
                  <a:srgbClr val="D9E8F2"/>
                </a:solidFill>
                <a:latin typeface="Arial"/>
                <a:ea typeface="Arial"/>
                <a:cs typeface="Arial"/>
                <a:sym typeface="Arial"/>
              </a:rPr>
              <a:t>ΠΑΡΑΔΕΊΓΜΑΤΑ ΣΧΈΣΕΩΝ</a:t>
            </a:r>
            <a:endParaRPr/>
          </a:p>
        </p:txBody>
      </p:sp>
      <p:sp>
        <p:nvSpPr>
          <p:cNvPr id="174" name="Google Shape;174;p7"/>
          <p:cNvSpPr/>
          <p:nvPr/>
        </p:nvSpPr>
        <p:spPr>
          <a:xfrm>
            <a:off x="533400" y="1000125"/>
            <a:ext cx="10096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0E2841"/>
                </a:solidFill>
                <a:latin typeface="Play"/>
                <a:ea typeface="Play"/>
                <a:cs typeface="Play"/>
                <a:sym typeface="Play"/>
              </a:rPr>
              <a:t>Οι σχέσεις δεν είναι τυχαίες· εκφράζουν πώς μετράμε πολλά γεγονότα με κοινά φίλτρα.</a:t>
            </a:r>
            <a:endParaRPr/>
          </a:p>
        </p:txBody>
      </p:sp>
      <p:sp>
        <p:nvSpPr>
          <p:cNvPr id="175" name="Google Shape;175;p7"/>
          <p:cNvSpPr/>
          <p:nvPr/>
        </p:nvSpPr>
        <p:spPr>
          <a:xfrm>
            <a:off x="533400" y="1733550"/>
            <a:ext cx="11125200" cy="9525"/>
          </a:xfrm>
          <a:prstGeom prst="rect">
            <a:avLst/>
          </a:prstGeom>
          <a:solidFill>
            <a:srgbClr val="D8E1E8"/>
          </a:solidFill>
          <a:ln w="9525" cap="flat" cmpd="sng">
            <a:solidFill>
              <a:srgbClr val="D8E1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7"/>
          <p:cNvSpPr/>
          <p:nvPr/>
        </p:nvSpPr>
        <p:spPr>
          <a:xfrm>
            <a:off x="11144250" y="6438900"/>
            <a:ext cx="514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>
                <a:solidFill>
                  <a:srgbClr val="5E6B7A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  <p:sp>
        <p:nvSpPr>
          <p:cNvPr id="177" name="Google Shape;177;p7"/>
          <p:cNvSpPr/>
          <p:nvPr/>
        </p:nvSpPr>
        <p:spPr>
          <a:xfrm>
            <a:off x="590550" y="1905000"/>
            <a:ext cx="3429000" cy="1352550"/>
          </a:xfrm>
          <a:prstGeom prst="rect">
            <a:avLst/>
          </a:prstGeom>
          <a:solidFill>
            <a:srgbClr val="EAF3F8"/>
          </a:solidFill>
          <a:ln w="9525" cap="flat" cmpd="sng">
            <a:solidFill>
              <a:srgbClr val="1560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7"/>
          <p:cNvSpPr/>
          <p:nvPr/>
        </p:nvSpPr>
        <p:spPr>
          <a:xfrm>
            <a:off x="590550" y="1905000"/>
            <a:ext cx="66675" cy="1352550"/>
          </a:xfrm>
          <a:prstGeom prst="rect">
            <a:avLst/>
          </a:prstGeom>
          <a:solidFill>
            <a:srgbClr val="156082"/>
          </a:solidFill>
          <a:ln w="9525" cap="flat" cmpd="sng">
            <a:solidFill>
              <a:srgbClr val="1560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7"/>
          <p:cNvSpPr/>
          <p:nvPr/>
        </p:nvSpPr>
        <p:spPr>
          <a:xfrm>
            <a:off x="800100" y="205740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>
                <a:solidFill>
                  <a:srgbClr val="156082"/>
                </a:solidFill>
                <a:latin typeface="Arial"/>
                <a:ea typeface="Arial"/>
                <a:cs typeface="Arial"/>
                <a:sym typeface="Arial"/>
              </a:rPr>
              <a:t>fact_flight -&gt; dim_date</a:t>
            </a:r>
            <a:endParaRPr/>
          </a:p>
        </p:txBody>
      </p:sp>
      <p:sp>
        <p:nvSpPr>
          <p:cNvPr id="180" name="Google Shape;180;p7"/>
          <p:cNvSpPr/>
          <p:nvPr/>
        </p:nvSpPr>
        <p:spPr>
          <a:xfrm>
            <a:off x="800100" y="2362200"/>
            <a:ext cx="30289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Many-to-one. Πολλές πτήσεις γίνονται την ίδια ημερομηνία. Άρα μπορούμε να δούμε flights ανά ημέρα, μήνα ή weekend.</a:t>
            </a:r>
            <a:endParaRPr/>
          </a:p>
        </p:txBody>
      </p:sp>
      <p:sp>
        <p:nvSpPr>
          <p:cNvPr id="181" name="Google Shape;181;p7"/>
          <p:cNvSpPr/>
          <p:nvPr/>
        </p:nvSpPr>
        <p:spPr>
          <a:xfrm>
            <a:off x="4381500" y="1905000"/>
            <a:ext cx="3429000" cy="1352550"/>
          </a:xfrm>
          <a:prstGeom prst="rect">
            <a:avLst/>
          </a:prstGeom>
          <a:solidFill>
            <a:srgbClr val="E9F4EA"/>
          </a:solidFill>
          <a:ln w="9525" cap="flat" cmpd="sng">
            <a:solidFill>
              <a:srgbClr val="196B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7"/>
          <p:cNvSpPr/>
          <p:nvPr/>
        </p:nvSpPr>
        <p:spPr>
          <a:xfrm>
            <a:off x="4381500" y="1905000"/>
            <a:ext cx="66675" cy="1352550"/>
          </a:xfrm>
          <a:prstGeom prst="rect">
            <a:avLst/>
          </a:prstGeom>
          <a:solidFill>
            <a:srgbClr val="196B24"/>
          </a:solidFill>
          <a:ln w="9525" cap="flat" cmpd="sng">
            <a:solidFill>
              <a:srgbClr val="196B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7"/>
          <p:cNvSpPr/>
          <p:nvPr/>
        </p:nvSpPr>
        <p:spPr>
          <a:xfrm>
            <a:off x="4591050" y="205740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>
                <a:solidFill>
                  <a:srgbClr val="196B24"/>
                </a:solidFill>
                <a:latin typeface="Arial"/>
                <a:ea typeface="Arial"/>
                <a:cs typeface="Arial"/>
                <a:sym typeface="Arial"/>
              </a:rPr>
              <a:t>fact_flight -&gt; dim_airline</a:t>
            </a: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4591050" y="2362200"/>
            <a:ext cx="30289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Many-to-one. Πολλές πτήσεις ανήκουν στην ίδια αεροπορική. Άρα συγκρίνουμε airlines χωρίς να επαναλαμβάνουμε τα στοιχεία τους.</a:t>
            </a:r>
            <a:endParaRPr/>
          </a:p>
        </p:txBody>
      </p:sp>
      <p:sp>
        <p:nvSpPr>
          <p:cNvPr id="185" name="Google Shape;185;p7"/>
          <p:cNvSpPr/>
          <p:nvPr/>
        </p:nvSpPr>
        <p:spPr>
          <a:xfrm>
            <a:off x="8172450" y="1905000"/>
            <a:ext cx="3429000" cy="1352550"/>
          </a:xfrm>
          <a:prstGeom prst="rect">
            <a:avLst/>
          </a:prstGeom>
          <a:solidFill>
            <a:srgbClr val="FCEDE3"/>
          </a:solidFill>
          <a:ln w="9525" cap="flat" cmpd="sng">
            <a:solidFill>
              <a:srgbClr val="E971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7"/>
          <p:cNvSpPr/>
          <p:nvPr/>
        </p:nvSpPr>
        <p:spPr>
          <a:xfrm>
            <a:off x="8172450" y="1905000"/>
            <a:ext cx="66675" cy="1352550"/>
          </a:xfrm>
          <a:prstGeom prst="rect">
            <a:avLst/>
          </a:prstGeom>
          <a:solidFill>
            <a:srgbClr val="E97132"/>
          </a:solidFill>
          <a:ln w="9525" cap="flat" cmpd="sng">
            <a:solidFill>
              <a:srgbClr val="E971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7"/>
          <p:cNvSpPr/>
          <p:nvPr/>
        </p:nvSpPr>
        <p:spPr>
          <a:xfrm>
            <a:off x="8382000" y="205740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>
                <a:solidFill>
                  <a:srgbClr val="E97132"/>
                </a:solidFill>
                <a:latin typeface="Arial"/>
                <a:ea typeface="Arial"/>
                <a:cs typeface="Arial"/>
                <a:sym typeface="Arial"/>
              </a:rPr>
              <a:t>fact_flight -&gt; dim_route</a:t>
            </a: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8382000" y="2362200"/>
            <a:ext cx="30289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Many-to-one. Πολλές πτήσεις ακολουθούν την ίδια διαδρομή. Άρα βλέπουμε δημοφιλή routes και διαδρομές με μεγάλη κίνηση.</a:t>
            </a:r>
            <a:endParaRPr/>
          </a:p>
        </p:txBody>
      </p:sp>
      <p:sp>
        <p:nvSpPr>
          <p:cNvPr id="189" name="Google Shape;189;p7"/>
          <p:cNvSpPr/>
          <p:nvPr/>
        </p:nvSpPr>
        <p:spPr>
          <a:xfrm>
            <a:off x="590550" y="3543300"/>
            <a:ext cx="3429000" cy="1352550"/>
          </a:xfrm>
          <a:prstGeom prst="rect">
            <a:avLst/>
          </a:prstGeom>
          <a:solidFill>
            <a:srgbClr val="FCEDE3"/>
          </a:solidFill>
          <a:ln w="9525" cap="flat" cmpd="sng">
            <a:solidFill>
              <a:srgbClr val="E971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590550" y="3543300"/>
            <a:ext cx="66675" cy="1352550"/>
          </a:xfrm>
          <a:prstGeom prst="rect">
            <a:avLst/>
          </a:prstGeom>
          <a:solidFill>
            <a:srgbClr val="E97132"/>
          </a:solidFill>
          <a:ln w="9525" cap="flat" cmpd="sng">
            <a:solidFill>
              <a:srgbClr val="E971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7"/>
          <p:cNvSpPr/>
          <p:nvPr/>
        </p:nvSpPr>
        <p:spPr>
          <a:xfrm>
            <a:off x="800100" y="369570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>
                <a:solidFill>
                  <a:srgbClr val="E97132"/>
                </a:solidFill>
                <a:latin typeface="Arial"/>
                <a:ea typeface="Arial"/>
                <a:cs typeface="Arial"/>
                <a:sym typeface="Arial"/>
              </a:rPr>
              <a:t>fact_booking_by_flight</a:t>
            </a:r>
            <a:endParaRPr/>
          </a:p>
        </p:txBody>
      </p:sp>
      <p:sp>
        <p:nvSpPr>
          <p:cNvPr id="192" name="Google Shape;192;p7"/>
          <p:cNvSpPr/>
          <p:nvPr/>
        </p:nvSpPr>
        <p:spPr>
          <a:xfrm>
            <a:off x="800100" y="4000500"/>
            <a:ext cx="30289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Συγκεντρώνει bookings ανά flight_id. Δεν κρατάμε 54M raw rows· κρατάμε totals ανά πτήση: count, seats, revenue, avg/min/max price.</a:t>
            </a:r>
            <a:endParaRPr/>
          </a:p>
        </p:txBody>
      </p:sp>
      <p:sp>
        <p:nvSpPr>
          <p:cNvPr id="193" name="Google Shape;193;p7"/>
          <p:cNvSpPr/>
          <p:nvPr/>
        </p:nvSpPr>
        <p:spPr>
          <a:xfrm>
            <a:off x="4381500" y="3543300"/>
            <a:ext cx="3429000" cy="1352550"/>
          </a:xfrm>
          <a:prstGeom prst="rect">
            <a:avLst/>
          </a:prstGeom>
          <a:solidFill>
            <a:srgbClr val="E9F4EA"/>
          </a:solidFill>
          <a:ln w="9525" cap="flat" cmpd="sng">
            <a:solidFill>
              <a:srgbClr val="196B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7"/>
          <p:cNvSpPr/>
          <p:nvPr/>
        </p:nvSpPr>
        <p:spPr>
          <a:xfrm>
            <a:off x="4381500" y="3543300"/>
            <a:ext cx="66675" cy="1352550"/>
          </a:xfrm>
          <a:prstGeom prst="rect">
            <a:avLst/>
          </a:prstGeom>
          <a:solidFill>
            <a:srgbClr val="196B24"/>
          </a:solidFill>
          <a:ln w="9525" cap="flat" cmpd="sng">
            <a:solidFill>
              <a:srgbClr val="196B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7"/>
          <p:cNvSpPr/>
          <p:nvPr/>
        </p:nvSpPr>
        <p:spPr>
          <a:xfrm>
            <a:off x="4591050" y="369570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>
                <a:solidFill>
                  <a:srgbClr val="196B24"/>
                </a:solidFill>
                <a:latin typeface="Arial"/>
                <a:ea typeface="Arial"/>
                <a:cs typeface="Arial"/>
                <a:sym typeface="Arial"/>
              </a:rPr>
              <a:t>fact_daily_airport_traffic</a:t>
            </a:r>
            <a:endParaRPr/>
          </a:p>
        </p:txBody>
      </p:sp>
      <p:sp>
        <p:nvSpPr>
          <p:cNvPr id="196" name="Google Shape;196;p7"/>
          <p:cNvSpPr/>
          <p:nvPr/>
        </p:nvSpPr>
        <p:spPr>
          <a:xfrm>
            <a:off x="4591050" y="4000500"/>
            <a:ext cx="30289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Συνδέεται με dim_date και dim_airport. Έχει μία σύνοψη ανά ημέρα και αεροδρόμιο: departures, arrivals, bookings, revenue.</a:t>
            </a:r>
            <a:endParaRPr/>
          </a:p>
        </p:txBody>
      </p:sp>
      <p:sp>
        <p:nvSpPr>
          <p:cNvPr id="197" name="Google Shape;197;p7"/>
          <p:cNvSpPr/>
          <p:nvPr/>
        </p:nvSpPr>
        <p:spPr>
          <a:xfrm>
            <a:off x="8172450" y="3543300"/>
            <a:ext cx="3429000" cy="1352550"/>
          </a:xfrm>
          <a:prstGeom prst="rect">
            <a:avLst/>
          </a:prstGeom>
          <a:solidFill>
            <a:srgbClr val="EAF3F8"/>
          </a:solidFill>
          <a:ln w="9525" cap="flat" cmpd="sng">
            <a:solidFill>
              <a:srgbClr val="0F9E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7"/>
          <p:cNvSpPr/>
          <p:nvPr/>
        </p:nvSpPr>
        <p:spPr>
          <a:xfrm>
            <a:off x="8172450" y="3543300"/>
            <a:ext cx="66675" cy="1352550"/>
          </a:xfrm>
          <a:prstGeom prst="rect">
            <a:avLst/>
          </a:prstGeom>
          <a:solidFill>
            <a:srgbClr val="0F9ED5"/>
          </a:solidFill>
          <a:ln w="9525" cap="flat" cmpd="sng">
            <a:solidFill>
              <a:srgbClr val="0F9E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7"/>
          <p:cNvSpPr/>
          <p:nvPr/>
        </p:nvSpPr>
        <p:spPr>
          <a:xfrm>
            <a:off x="8382000" y="369570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>
                <a:solidFill>
                  <a:srgbClr val="0F9ED5"/>
                </a:solidFill>
                <a:latin typeface="Arial"/>
                <a:ea typeface="Arial"/>
                <a:cs typeface="Arial"/>
                <a:sym typeface="Arial"/>
              </a:rPr>
              <a:t>fact_weather -&gt; dim_date</a:t>
            </a:r>
            <a:endParaRPr/>
          </a:p>
        </p:txBody>
      </p:sp>
      <p:sp>
        <p:nvSpPr>
          <p:cNvPr id="200" name="Google Shape;200;p7"/>
          <p:cNvSpPr/>
          <p:nvPr/>
        </p:nvSpPr>
        <p:spPr>
          <a:xfrm>
            <a:off x="8382000" y="4000500"/>
            <a:ext cx="30289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Many-to-one. Πολλές καιρικές μετρήσεις ανήκουν στην ίδια ημέρα. Έτσι συγκρίνουμε weather με traffic/flight activity.</a:t>
            </a:r>
            <a:endParaRPr/>
          </a:p>
        </p:txBody>
      </p:sp>
      <p:sp>
        <p:nvSpPr>
          <p:cNvPr id="201" name="Google Shape;201;p7"/>
          <p:cNvSpPr/>
          <p:nvPr/>
        </p:nvSpPr>
        <p:spPr>
          <a:xfrm>
            <a:off x="2190750" y="5191125"/>
            <a:ext cx="7810500" cy="1200150"/>
          </a:xfrm>
          <a:prstGeom prst="rect">
            <a:avLst/>
          </a:prstGeom>
          <a:solidFill>
            <a:srgbClr val="F7FAFC"/>
          </a:solidFill>
          <a:ln w="9525" cap="flat" cmpd="sng">
            <a:solidFill>
              <a:srgbClr val="0E28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7"/>
          <p:cNvSpPr/>
          <p:nvPr/>
        </p:nvSpPr>
        <p:spPr>
          <a:xfrm>
            <a:off x="2190750" y="5191125"/>
            <a:ext cx="66675" cy="1200150"/>
          </a:xfrm>
          <a:prstGeom prst="rect">
            <a:avLst/>
          </a:prstGeom>
          <a:solidFill>
            <a:srgbClr val="0E2841"/>
          </a:solidFill>
          <a:ln w="9525" cap="flat" cmpd="sng">
            <a:solidFill>
              <a:srgbClr val="0E28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7"/>
          <p:cNvSpPr/>
          <p:nvPr/>
        </p:nvSpPr>
        <p:spPr>
          <a:xfrm>
            <a:off x="2400300" y="5343525"/>
            <a:ext cx="7429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>
                <a:solidFill>
                  <a:srgbClr val="0E2841"/>
                </a:solidFill>
                <a:latin typeface="Arial"/>
                <a:ea typeface="Arial"/>
                <a:cs typeface="Arial"/>
                <a:sym typeface="Arial"/>
              </a:rPr>
              <a:t>Συμπέρασμα</a:t>
            </a:r>
            <a:endParaRPr/>
          </a:p>
        </p:txBody>
      </p:sp>
      <p:sp>
        <p:nvSpPr>
          <p:cNvPr id="204" name="Google Shape;204;p7"/>
          <p:cNvSpPr/>
          <p:nvPr/>
        </p:nvSpPr>
        <p:spPr>
          <a:xfrm>
            <a:off x="2400300" y="5648325"/>
            <a:ext cx="74104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Το μοντέλο είναι κυρίως star</a:t>
            </a:r>
            <a:r>
              <a:rPr lang="en-US" sz="1125">
                <a:solidFill>
                  <a:srgbClr val="17324D"/>
                </a:solidFill>
              </a:rPr>
              <a:t> schema</a:t>
            </a:r>
            <a:r>
              <a:rPr lang="en-US" sz="1125" b="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 λογική: facts στο κέντρο, dimensions γύρω τους.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0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E2841"/>
          </a:solidFill>
          <a:ln w="9525" cap="flat" cmpd="sng">
            <a:solidFill>
              <a:srgbClr val="0E28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0"/>
          <p:cNvSpPr/>
          <p:nvPr/>
        </p:nvSpPr>
        <p:spPr>
          <a:xfrm>
            <a:off x="533400" y="247650"/>
            <a:ext cx="438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8" b="1">
                <a:solidFill>
                  <a:srgbClr val="D9E8F2"/>
                </a:solidFill>
                <a:latin typeface="Arial"/>
                <a:ea typeface="Arial"/>
                <a:cs typeface="Arial"/>
                <a:sym typeface="Arial"/>
              </a:rPr>
              <a:t>ΤΡΈΧΟΥΣΑ ΚΑΤΆΣΤΑΣΗ</a:t>
            </a:r>
            <a:endParaRPr/>
          </a:p>
        </p:txBody>
      </p:sp>
      <p:sp>
        <p:nvSpPr>
          <p:cNvPr id="213" name="Google Shape;213;p10"/>
          <p:cNvSpPr/>
          <p:nvPr/>
        </p:nvSpPr>
        <p:spPr>
          <a:xfrm>
            <a:off x="533400" y="1000125"/>
            <a:ext cx="10096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0E2841"/>
                </a:solidFill>
                <a:latin typeface="Play"/>
                <a:ea typeface="Play"/>
                <a:cs typeface="Play"/>
                <a:sym typeface="Play"/>
              </a:rPr>
              <a:t>Το backend/DW είναι έτοιμο· απομένει το τελικό Power BI dashboard και η τελική αναφορά.</a:t>
            </a:r>
            <a:endParaRPr/>
          </a:p>
        </p:txBody>
      </p:sp>
      <p:sp>
        <p:nvSpPr>
          <p:cNvPr id="214" name="Google Shape;214;p10"/>
          <p:cNvSpPr/>
          <p:nvPr/>
        </p:nvSpPr>
        <p:spPr>
          <a:xfrm>
            <a:off x="533400" y="1733550"/>
            <a:ext cx="11125200" cy="9525"/>
          </a:xfrm>
          <a:prstGeom prst="rect">
            <a:avLst/>
          </a:prstGeom>
          <a:solidFill>
            <a:srgbClr val="D8E1E8"/>
          </a:solidFill>
          <a:ln w="9525" cap="flat" cmpd="sng">
            <a:solidFill>
              <a:srgbClr val="D8E1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0"/>
          <p:cNvSpPr/>
          <p:nvPr/>
        </p:nvSpPr>
        <p:spPr>
          <a:xfrm>
            <a:off x="11144250" y="6438900"/>
            <a:ext cx="514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5E6B7A"/>
                </a:solidFill>
              </a:rPr>
              <a:t>08</a:t>
            </a:r>
            <a:endParaRPr/>
          </a:p>
        </p:txBody>
      </p:sp>
      <p:sp>
        <p:nvSpPr>
          <p:cNvPr id="216" name="Google Shape;216;p10"/>
          <p:cNvSpPr/>
          <p:nvPr/>
        </p:nvSpPr>
        <p:spPr>
          <a:xfrm>
            <a:off x="666750" y="2143125"/>
            <a:ext cx="4381500" cy="2143125"/>
          </a:xfrm>
          <a:prstGeom prst="rect">
            <a:avLst/>
          </a:prstGeom>
          <a:solidFill>
            <a:srgbClr val="E9F4EA"/>
          </a:solidFill>
          <a:ln w="9525" cap="flat" cmpd="sng">
            <a:solidFill>
              <a:srgbClr val="196B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0"/>
          <p:cNvSpPr/>
          <p:nvPr/>
        </p:nvSpPr>
        <p:spPr>
          <a:xfrm>
            <a:off x="666750" y="2143125"/>
            <a:ext cx="66675" cy="2143125"/>
          </a:xfrm>
          <a:prstGeom prst="rect">
            <a:avLst/>
          </a:prstGeom>
          <a:solidFill>
            <a:srgbClr val="196B24"/>
          </a:solidFill>
          <a:ln w="9525" cap="flat" cmpd="sng">
            <a:solidFill>
              <a:srgbClr val="196B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0"/>
          <p:cNvSpPr/>
          <p:nvPr/>
        </p:nvSpPr>
        <p:spPr>
          <a:xfrm>
            <a:off x="876300" y="2295525"/>
            <a:ext cx="400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>
                <a:solidFill>
                  <a:srgbClr val="196B24"/>
                </a:solidFill>
                <a:latin typeface="Arial"/>
                <a:ea typeface="Arial"/>
                <a:cs typeface="Arial"/>
                <a:sym typeface="Arial"/>
              </a:rPr>
              <a:t>Έλεγχοι που πέρασαν</a:t>
            </a:r>
            <a:endParaRPr/>
          </a:p>
        </p:txBody>
      </p:sp>
      <p:sp>
        <p:nvSpPr>
          <p:cNvPr id="219" name="Google Shape;219;p10"/>
          <p:cNvSpPr/>
          <p:nvPr/>
        </p:nvSpPr>
        <p:spPr>
          <a:xfrm>
            <a:off x="876300" y="2600325"/>
            <a:ext cx="3981450" cy="1457325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fact_flight: 462,553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fact_booking_by_flight: 462,553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fact_daily_airport_traffic: 581,084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fact_weather: 4,626,432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25" b="0">
              <a:solidFill>
                <a:srgbClr val="17324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Total bookings: 54,304,619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Total revenue: 13,629,590,557.18</a:t>
            </a:r>
            <a:endParaRPr/>
          </a:p>
        </p:txBody>
      </p:sp>
      <p:sp>
        <p:nvSpPr>
          <p:cNvPr id="220" name="Google Shape;220;p10"/>
          <p:cNvSpPr/>
          <p:nvPr/>
        </p:nvSpPr>
        <p:spPr>
          <a:xfrm>
            <a:off x="6191250" y="2143125"/>
            <a:ext cx="4476750" cy="1123950"/>
          </a:xfrm>
          <a:prstGeom prst="rect">
            <a:avLst/>
          </a:prstGeom>
          <a:solidFill>
            <a:srgbClr val="EAF3F8"/>
          </a:solidFill>
          <a:ln w="9525" cap="flat" cmpd="sng">
            <a:solidFill>
              <a:srgbClr val="1560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0"/>
          <p:cNvSpPr/>
          <p:nvPr/>
        </p:nvSpPr>
        <p:spPr>
          <a:xfrm>
            <a:off x="6191250" y="2143125"/>
            <a:ext cx="66675" cy="1123950"/>
          </a:xfrm>
          <a:prstGeom prst="rect">
            <a:avLst/>
          </a:prstGeom>
          <a:solidFill>
            <a:srgbClr val="156082"/>
          </a:solidFill>
          <a:ln w="9525" cap="flat" cmpd="sng">
            <a:solidFill>
              <a:srgbClr val="1560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0"/>
          <p:cNvSpPr/>
          <p:nvPr/>
        </p:nvSpPr>
        <p:spPr>
          <a:xfrm>
            <a:off x="6400800" y="2295525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>
                <a:solidFill>
                  <a:srgbClr val="156082"/>
                </a:solidFill>
                <a:latin typeface="Arial"/>
                <a:ea typeface="Arial"/>
                <a:cs typeface="Arial"/>
                <a:sym typeface="Arial"/>
              </a:rPr>
              <a:t>Ολοκληρωμένα</a:t>
            </a:r>
            <a:endParaRPr/>
          </a:p>
        </p:txBody>
      </p:sp>
      <p:sp>
        <p:nvSpPr>
          <p:cNvPr id="223" name="Google Shape;223;p10"/>
          <p:cNvSpPr/>
          <p:nvPr/>
        </p:nvSpPr>
        <p:spPr>
          <a:xfrm>
            <a:off x="6400800" y="2600325"/>
            <a:ext cx="40767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MySQL Server, airportdb import, airportdw schema, refresh procedure, BI views, Power BI connection.</a:t>
            </a:r>
            <a:endParaRPr/>
          </a:p>
        </p:txBody>
      </p:sp>
      <p:sp>
        <p:nvSpPr>
          <p:cNvPr id="224" name="Google Shape;224;p10"/>
          <p:cNvSpPr/>
          <p:nvPr/>
        </p:nvSpPr>
        <p:spPr>
          <a:xfrm>
            <a:off x="6381750" y="3924300"/>
            <a:ext cx="66675" cy="66675"/>
          </a:xfrm>
          <a:prstGeom prst="rect">
            <a:avLst/>
          </a:prstGeom>
          <a:solidFill>
            <a:srgbClr val="E97132"/>
          </a:solidFill>
          <a:ln w="9525" cap="flat" cmpd="sng">
            <a:solidFill>
              <a:srgbClr val="E971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0"/>
          <p:cNvSpPr/>
          <p:nvPr/>
        </p:nvSpPr>
        <p:spPr>
          <a:xfrm>
            <a:off x="6610350" y="3857625"/>
            <a:ext cx="4762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Επόμενο βήμα: δημιουργία visuals στο Power BI.</a:t>
            </a:r>
            <a:endParaRPr sz="1200">
              <a:solidFill>
                <a:srgbClr val="17324D"/>
              </a:solidFill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6381750" y="4438650"/>
            <a:ext cx="66675" cy="66675"/>
          </a:xfrm>
          <a:prstGeom prst="rect">
            <a:avLst/>
          </a:prstGeom>
          <a:solidFill>
            <a:srgbClr val="E97132"/>
          </a:solidFill>
          <a:ln w="9525" cap="flat" cmpd="sng">
            <a:solidFill>
              <a:srgbClr val="E971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0"/>
          <p:cNvSpPr/>
          <p:nvPr/>
        </p:nvSpPr>
        <p:spPr>
          <a:xfrm>
            <a:off x="6610350" y="4371975"/>
            <a:ext cx="4762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Μετά: screenshots και τελική αναφορά.</a:t>
            </a:r>
            <a:endParaRPr/>
          </a:p>
        </p:txBody>
      </p:sp>
      <p:sp>
        <p:nvSpPr>
          <p:cNvPr id="228" name="Google Shape;228;p10"/>
          <p:cNvSpPr/>
          <p:nvPr/>
        </p:nvSpPr>
        <p:spPr>
          <a:xfrm>
            <a:off x="6381750" y="4953000"/>
            <a:ext cx="66675" cy="66675"/>
          </a:xfrm>
          <a:prstGeom prst="rect">
            <a:avLst/>
          </a:prstGeom>
          <a:solidFill>
            <a:srgbClr val="E97132"/>
          </a:solidFill>
          <a:ln w="9525" cap="flat" cmpd="sng">
            <a:solidFill>
              <a:srgbClr val="E971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0"/>
          <p:cNvSpPr/>
          <p:nvPr/>
        </p:nvSpPr>
        <p:spPr>
          <a:xfrm>
            <a:off x="6610350" y="4886325"/>
            <a:ext cx="4762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Αργότερα: μικρή αναδιάρθρωση schema ή επιπλέον views.</a:t>
            </a:r>
            <a:endParaRPr/>
          </a:p>
        </p:txBody>
      </p:sp>
      <p:sp>
        <p:nvSpPr>
          <p:cNvPr id="230" name="Google Shape;230;p10"/>
          <p:cNvSpPr/>
          <p:nvPr/>
        </p:nvSpPr>
        <p:spPr>
          <a:xfrm>
            <a:off x="6381775" y="3509638"/>
            <a:ext cx="66600" cy="66600"/>
          </a:xfrm>
          <a:prstGeom prst="rect">
            <a:avLst/>
          </a:prstGeom>
          <a:solidFill>
            <a:srgbClr val="E97132"/>
          </a:solidFill>
          <a:ln w="9525" cap="flat" cmpd="sng">
            <a:solidFill>
              <a:srgbClr val="E971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0"/>
          <p:cNvSpPr/>
          <p:nvPr/>
        </p:nvSpPr>
        <p:spPr>
          <a:xfrm>
            <a:off x="6610350" y="3460400"/>
            <a:ext cx="4762500" cy="32400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17324D"/>
                </a:solidFill>
              </a:rPr>
              <a:t>MySQL Event Scheduler</a:t>
            </a:r>
            <a:endParaRPr sz="1200">
              <a:solidFill>
                <a:srgbClr val="17324D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rgbClr val="17324D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17324D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C32FDE-5EE1-A718-A083-538E5D226C8A}"/>
              </a:ext>
            </a:extLst>
          </p:cNvPr>
          <p:cNvSpPr txBox="1"/>
          <p:nvPr/>
        </p:nvSpPr>
        <p:spPr>
          <a:xfrm>
            <a:off x="457200" y="304800"/>
            <a:ext cx="9652000" cy="389850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l-GR" sz="2200" b="1">
                <a:solidFill>
                  <a:srgbClr val="111827"/>
                </a:solidFill>
                <a:latin typeface="Aptos" panose="020B0004020202020204" pitchFamily="34" charset="0"/>
              </a:rPr>
              <a:t>ΤΕΛΙΚΗ ΑΡΧΙΤΕΚΤΟΝΙΚΗ</a:t>
            </a:r>
            <a:endParaRPr lang="en-US" sz="2200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0E4BA8-470A-DED8-B547-150A68817797}"/>
              </a:ext>
            </a:extLst>
          </p:cNvPr>
          <p:cNvSpPr txBox="1"/>
          <p:nvPr/>
        </p:nvSpPr>
        <p:spPr>
          <a:xfrm>
            <a:off x="457200" y="736600"/>
            <a:ext cx="10414000" cy="266740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>
                <a:solidFill>
                  <a:srgbClr val="4B5563"/>
                </a:solidFill>
                <a:latin typeface="Aptos" panose="020B0004020202020204" pitchFamily="34" charset="0"/>
              </a:rPr>
              <a:t>Από raw source data σε Data Warehouse, incremental refresh και Power BI views.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017A16-D242-C094-EA4A-C4DDFFCC16CC}"/>
              </a:ext>
            </a:extLst>
          </p:cNvPr>
          <p:cNvSpPr txBox="1"/>
          <p:nvPr/>
        </p:nvSpPr>
        <p:spPr>
          <a:xfrm>
            <a:off x="11150600" y="6350000"/>
            <a:ext cx="533400" cy="266740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b="1">
                <a:solidFill>
                  <a:srgbClr val="6B7280"/>
                </a:solidFill>
                <a:latin typeface="Aptos" panose="020B0004020202020204" pitchFamily="34" charset="0"/>
              </a:rPr>
              <a:t>09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6234CF-7974-7942-E4C4-8812B7AAEE0F}"/>
              </a:ext>
            </a:extLst>
          </p:cNvPr>
          <p:cNvSpPr/>
          <p:nvPr/>
        </p:nvSpPr>
        <p:spPr>
          <a:xfrm>
            <a:off x="533400" y="1841500"/>
            <a:ext cx="1841500" cy="116840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C64ED8-9181-E2CA-D5C5-A0CA709D169E}"/>
              </a:ext>
            </a:extLst>
          </p:cNvPr>
          <p:cNvSpPr txBox="1"/>
          <p:nvPr/>
        </p:nvSpPr>
        <p:spPr>
          <a:xfrm>
            <a:off x="635000" y="1968500"/>
            <a:ext cx="1638300" cy="282129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1500" b="1">
                <a:solidFill>
                  <a:srgbClr val="1E3A8A"/>
                </a:solidFill>
                <a:latin typeface="Aptos" panose="020B0004020202020204" pitchFamily="34" charset="0"/>
              </a:rPr>
              <a:t>airportdb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0FBE1A-869A-803C-ECC8-B7FBB675D569}"/>
              </a:ext>
            </a:extLst>
          </p:cNvPr>
          <p:cNvSpPr txBox="1"/>
          <p:nvPr/>
        </p:nvSpPr>
        <p:spPr>
          <a:xfrm>
            <a:off x="635000" y="2273300"/>
            <a:ext cx="1638300" cy="220573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1100" b="1">
                <a:solidFill>
                  <a:srgbClr val="374151"/>
                </a:solidFill>
                <a:latin typeface="Aptos" panose="020B0004020202020204" pitchFamily="34" charset="0"/>
              </a:rPr>
              <a:t>Source / OLTP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B9981A-4E68-707D-E8A7-5B9608A98E09}"/>
              </a:ext>
            </a:extLst>
          </p:cNvPr>
          <p:cNvSpPr txBox="1"/>
          <p:nvPr/>
        </p:nvSpPr>
        <p:spPr>
          <a:xfrm>
            <a:off x="635000" y="2527300"/>
            <a:ext cx="1638300" cy="359073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1000">
                <a:solidFill>
                  <a:srgbClr val="4B5563"/>
                </a:solidFill>
                <a:latin typeface="Aptos" panose="020B0004020202020204" pitchFamily="34" charset="0"/>
              </a:rPr>
              <a:t>flight, booking, airport, weatherdata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7183A66-9A29-66B4-C895-DE895ABCBE02}"/>
              </a:ext>
            </a:extLst>
          </p:cNvPr>
          <p:cNvCxnSpPr/>
          <p:nvPr/>
        </p:nvCxnSpPr>
        <p:spPr>
          <a:xfrm>
            <a:off x="2476500" y="2425700"/>
            <a:ext cx="203200" cy="0"/>
          </a:xfrm>
          <a:prstGeom prst="line">
            <a:avLst/>
          </a:prstGeom>
          <a:ln w="25400">
            <a:solidFill>
              <a:srgbClr val="6B728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0D6D7B4F-E292-2FB0-006F-C6C02A0634B4}"/>
              </a:ext>
            </a:extLst>
          </p:cNvPr>
          <p:cNvSpPr/>
          <p:nvPr/>
        </p:nvSpPr>
        <p:spPr>
          <a:xfrm>
            <a:off x="2667000" y="1841500"/>
            <a:ext cx="1841500" cy="116840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ACAE8E-9F4C-9FB2-38DF-096074428FF4}"/>
              </a:ext>
            </a:extLst>
          </p:cNvPr>
          <p:cNvSpPr txBox="1"/>
          <p:nvPr/>
        </p:nvSpPr>
        <p:spPr>
          <a:xfrm>
            <a:off x="2768600" y="1968500"/>
            <a:ext cx="1638300" cy="512961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1500" b="1">
                <a:solidFill>
                  <a:srgbClr val="1E3A8A"/>
                </a:solidFill>
                <a:latin typeface="Aptos" panose="020B0004020202020204" pitchFamily="34" charset="0"/>
              </a:rPr>
              <a:t>airportdw schema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051C4C-5210-0EFE-9965-1D6D679D2C4F}"/>
              </a:ext>
            </a:extLst>
          </p:cNvPr>
          <p:cNvSpPr txBox="1"/>
          <p:nvPr/>
        </p:nvSpPr>
        <p:spPr>
          <a:xfrm>
            <a:off x="2768600" y="2273300"/>
            <a:ext cx="1638300" cy="220573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1100" b="1">
                <a:solidFill>
                  <a:srgbClr val="374151"/>
                </a:solidFill>
                <a:latin typeface="Aptos" panose="020B0004020202020204" pitchFamily="34" charset="0"/>
              </a:rPr>
              <a:t>Data Warehouse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AE6606-5877-D66A-DDAC-8079922BD87D}"/>
              </a:ext>
            </a:extLst>
          </p:cNvPr>
          <p:cNvSpPr txBox="1"/>
          <p:nvPr/>
        </p:nvSpPr>
        <p:spPr>
          <a:xfrm>
            <a:off x="2768600" y="2527300"/>
            <a:ext cx="1638300" cy="205184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1000">
                <a:solidFill>
                  <a:srgbClr val="4B5563"/>
                </a:solidFill>
                <a:latin typeface="Aptos" panose="020B0004020202020204" pitchFamily="34" charset="0"/>
              </a:rPr>
              <a:t>dimensions + facts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906C985-8006-A301-229E-EEDA38C9E553}"/>
              </a:ext>
            </a:extLst>
          </p:cNvPr>
          <p:cNvCxnSpPr/>
          <p:nvPr/>
        </p:nvCxnSpPr>
        <p:spPr>
          <a:xfrm>
            <a:off x="4610100" y="2425700"/>
            <a:ext cx="203200" cy="0"/>
          </a:xfrm>
          <a:prstGeom prst="line">
            <a:avLst/>
          </a:prstGeom>
          <a:ln w="25400">
            <a:solidFill>
              <a:srgbClr val="6B728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2667A93A-C7E9-6F2E-8C3C-41CBBFE7553E}"/>
              </a:ext>
            </a:extLst>
          </p:cNvPr>
          <p:cNvSpPr/>
          <p:nvPr/>
        </p:nvSpPr>
        <p:spPr>
          <a:xfrm>
            <a:off x="4800600" y="1841500"/>
            <a:ext cx="1841500" cy="116840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522958-325D-B203-9706-42BA7FA3E04E}"/>
              </a:ext>
            </a:extLst>
          </p:cNvPr>
          <p:cNvSpPr txBox="1"/>
          <p:nvPr/>
        </p:nvSpPr>
        <p:spPr>
          <a:xfrm>
            <a:off x="4902200" y="1968500"/>
            <a:ext cx="1638300" cy="282129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1500" b="1">
                <a:solidFill>
                  <a:srgbClr val="1E3A8A"/>
                </a:solidFill>
                <a:latin typeface="Aptos" panose="020B0004020202020204" pitchFamily="34" charset="0"/>
              </a:rPr>
              <a:t>ETL procedures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0694E2D-4582-CAD3-70AE-34AB9C7A85C0}"/>
              </a:ext>
            </a:extLst>
          </p:cNvPr>
          <p:cNvSpPr txBox="1"/>
          <p:nvPr/>
        </p:nvSpPr>
        <p:spPr>
          <a:xfrm>
            <a:off x="4902200" y="2273300"/>
            <a:ext cx="1638300" cy="220573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1100" b="1">
                <a:solidFill>
                  <a:srgbClr val="374151"/>
                </a:solidFill>
                <a:latin typeface="Aptos" panose="020B0004020202020204" pitchFamily="34" charset="0"/>
              </a:rPr>
              <a:t>Synchronization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1FACF1-76FF-9904-B6E7-24C753157E5B}"/>
              </a:ext>
            </a:extLst>
          </p:cNvPr>
          <p:cNvSpPr txBox="1"/>
          <p:nvPr/>
        </p:nvSpPr>
        <p:spPr>
          <a:xfrm>
            <a:off x="4902200" y="2527300"/>
            <a:ext cx="1638300" cy="359073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1000">
                <a:solidFill>
                  <a:srgbClr val="4B5563"/>
                </a:solidFill>
                <a:latin typeface="Aptos" panose="020B0004020202020204" pitchFamily="34" charset="0"/>
              </a:rPr>
              <a:t>initial load + next closed day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E72F8AC-E04A-64F9-BBAE-590B0FF044F9}"/>
              </a:ext>
            </a:extLst>
          </p:cNvPr>
          <p:cNvCxnSpPr/>
          <p:nvPr/>
        </p:nvCxnSpPr>
        <p:spPr>
          <a:xfrm>
            <a:off x="6743700" y="2425700"/>
            <a:ext cx="203200" cy="0"/>
          </a:xfrm>
          <a:prstGeom prst="line">
            <a:avLst/>
          </a:prstGeom>
          <a:ln w="25400">
            <a:solidFill>
              <a:srgbClr val="6B728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9626DFD1-F0AD-41AC-5E1A-E5355C7DA827}"/>
              </a:ext>
            </a:extLst>
          </p:cNvPr>
          <p:cNvSpPr/>
          <p:nvPr/>
        </p:nvSpPr>
        <p:spPr>
          <a:xfrm>
            <a:off x="6934200" y="1841500"/>
            <a:ext cx="1841500" cy="116840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3B19605-52C9-A1CE-1510-76C5D0146A8B}"/>
              </a:ext>
            </a:extLst>
          </p:cNvPr>
          <p:cNvSpPr txBox="1"/>
          <p:nvPr/>
        </p:nvSpPr>
        <p:spPr>
          <a:xfrm>
            <a:off x="7035800" y="1968500"/>
            <a:ext cx="1638300" cy="282129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1500" b="1">
                <a:solidFill>
                  <a:srgbClr val="1E3A8A"/>
                </a:solidFill>
                <a:latin typeface="Aptos" panose="020B0004020202020204" pitchFamily="34" charset="0"/>
              </a:rPr>
              <a:t>BI views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B8CFF6D-759E-32F1-4D39-E22160CD4514}"/>
              </a:ext>
            </a:extLst>
          </p:cNvPr>
          <p:cNvSpPr txBox="1"/>
          <p:nvPr/>
        </p:nvSpPr>
        <p:spPr>
          <a:xfrm>
            <a:off x="7035800" y="2273300"/>
            <a:ext cx="1638300" cy="220573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1100" b="1">
                <a:solidFill>
                  <a:srgbClr val="374151"/>
                </a:solidFill>
                <a:latin typeface="Aptos" panose="020B0004020202020204" pitchFamily="34" charset="0"/>
              </a:rPr>
              <a:t>Reporting layer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4FF21A4-B58B-36A2-8FA6-0150A1DE10B8}"/>
              </a:ext>
            </a:extLst>
          </p:cNvPr>
          <p:cNvSpPr txBox="1"/>
          <p:nvPr/>
        </p:nvSpPr>
        <p:spPr>
          <a:xfrm>
            <a:off x="7035800" y="2527300"/>
            <a:ext cx="1638300" cy="359073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1000">
                <a:solidFill>
                  <a:srgbClr val="4B5563"/>
                </a:solidFill>
                <a:latin typeface="Aptos" panose="020B0004020202020204" pitchFamily="34" charset="0"/>
              </a:rPr>
              <a:t>top countries, airlines, revenue, ETL history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69386EE-8F07-8E48-37A8-B49E7428F47D}"/>
              </a:ext>
            </a:extLst>
          </p:cNvPr>
          <p:cNvCxnSpPr/>
          <p:nvPr/>
        </p:nvCxnSpPr>
        <p:spPr>
          <a:xfrm>
            <a:off x="8877300" y="2425700"/>
            <a:ext cx="203200" cy="0"/>
          </a:xfrm>
          <a:prstGeom prst="line">
            <a:avLst/>
          </a:prstGeom>
          <a:ln w="25400">
            <a:solidFill>
              <a:srgbClr val="6B728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2A2918B2-651D-2F02-0362-A4E9D07B5D8F}"/>
              </a:ext>
            </a:extLst>
          </p:cNvPr>
          <p:cNvSpPr/>
          <p:nvPr/>
        </p:nvSpPr>
        <p:spPr>
          <a:xfrm>
            <a:off x="9067800" y="1841500"/>
            <a:ext cx="1841500" cy="116840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5CA2A96-D040-093C-E730-83893289D4F5}"/>
              </a:ext>
            </a:extLst>
          </p:cNvPr>
          <p:cNvSpPr txBox="1"/>
          <p:nvPr/>
        </p:nvSpPr>
        <p:spPr>
          <a:xfrm>
            <a:off x="9169400" y="1968500"/>
            <a:ext cx="1638300" cy="282129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1500" b="1">
                <a:solidFill>
                  <a:srgbClr val="1E3A8A"/>
                </a:solidFill>
                <a:latin typeface="Aptos" panose="020B0004020202020204" pitchFamily="34" charset="0"/>
              </a:rPr>
              <a:t>Power BI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89364F9-CA59-278A-A288-85F01480190A}"/>
              </a:ext>
            </a:extLst>
          </p:cNvPr>
          <p:cNvSpPr txBox="1"/>
          <p:nvPr/>
        </p:nvSpPr>
        <p:spPr>
          <a:xfrm>
            <a:off x="9169400" y="2273300"/>
            <a:ext cx="1638300" cy="220573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1100" b="1">
                <a:solidFill>
                  <a:srgbClr val="374151"/>
                </a:solidFill>
                <a:latin typeface="Aptos" panose="020B0004020202020204" pitchFamily="34" charset="0"/>
              </a:rPr>
              <a:t>Dashboard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5555C05-E16F-0AB6-B311-D07F0447B2BB}"/>
              </a:ext>
            </a:extLst>
          </p:cNvPr>
          <p:cNvSpPr txBox="1"/>
          <p:nvPr/>
        </p:nvSpPr>
        <p:spPr>
          <a:xfrm>
            <a:off x="9169400" y="2527300"/>
            <a:ext cx="1638300" cy="359073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1000">
                <a:solidFill>
                  <a:srgbClr val="4B5563"/>
                </a:solidFill>
                <a:latin typeface="Aptos" panose="020B0004020202020204" pitchFamily="34" charset="0"/>
              </a:rPr>
              <a:t>business visuals + refresh evidence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9DFDDED-E8F7-DC99-6735-034463EC54E6}"/>
              </a:ext>
            </a:extLst>
          </p:cNvPr>
          <p:cNvSpPr txBox="1"/>
          <p:nvPr/>
        </p:nvSpPr>
        <p:spPr>
          <a:xfrm>
            <a:off x="660400" y="3810000"/>
            <a:ext cx="9906000" cy="789960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l-GR" sz="1600">
                <a:solidFill>
                  <a:srgbClr val="374151"/>
                </a:solidFill>
                <a:latin typeface="Aptos" panose="020B0004020202020204" pitchFamily="34" charset="0"/>
              </a:rPr>
              <a:t>Γιατί αυτός ο διαχωρισμός;
Η airportdb είναι raw operational βάση. Η airportdw είναι καθαρό αναλυτικό μοντέλο, ώστε το Power BI να διαβάζει έτοιμα facts/views και όχι να κάνει βαριά joins κάθε φορά.</a:t>
            </a:r>
            <a:endParaRPr lang="en-US" sz="1600">
              <a:solidFill>
                <a:srgbClr val="374151"/>
              </a:solidFill>
              <a:latin typeface="Aptos" panose="020B00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6C3B2E0-092B-B620-6D38-BA2690D352BB}"/>
              </a:ext>
            </a:extLst>
          </p:cNvPr>
          <p:cNvSpPr txBox="1"/>
          <p:nvPr/>
        </p:nvSpPr>
        <p:spPr>
          <a:xfrm>
            <a:off x="660400" y="5207000"/>
            <a:ext cx="10033000" cy="451406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l-GR" sz="1300">
                <a:solidFill>
                  <a:srgbClr val="2563EB"/>
                </a:solidFill>
                <a:latin typeface="Aptos" panose="020B0004020202020204" pitchFamily="34" charset="0"/>
              </a:rPr>
              <a:t>Κύρια </a:t>
            </a:r>
            <a:r>
              <a:rPr lang="en-US" sz="1300">
                <a:solidFill>
                  <a:srgbClr val="2563EB"/>
                </a:solidFill>
                <a:latin typeface="Aptos" panose="020B0004020202020204" pitchFamily="34" charset="0"/>
              </a:rPr>
              <a:t>SQL </a:t>
            </a:r>
            <a:r>
              <a:rPr lang="el-GR" sz="1300">
                <a:solidFill>
                  <a:srgbClr val="2563EB"/>
                </a:solidFill>
                <a:latin typeface="Aptos" panose="020B0004020202020204" pitchFamily="34" charset="0"/>
              </a:rPr>
              <a:t>αρχεία: 01_</a:t>
            </a:r>
            <a:r>
              <a:rPr lang="en-US" sz="1300">
                <a:solidFill>
                  <a:srgbClr val="2563EB"/>
                </a:solidFill>
                <a:latin typeface="Aptos" panose="020B0004020202020204" pitchFamily="34" charset="0"/>
              </a:rPr>
              <a:t>create_airportdw_schema.sql, 04_create_dashboard_summary_views.sql, 05_closed_day_incremental_refresh.sql, 06_create_closed_day_scheduler_event.sql.</a:t>
            </a:r>
          </a:p>
        </p:txBody>
      </p:sp>
    </p:spTree>
    <p:extLst>
      <p:ext uri="{BB962C8B-B14F-4D97-AF65-F5344CB8AC3E}">
        <p14:creationId xmlns:p14="http://schemas.microsoft.com/office/powerpoint/2010/main" val="14621446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A1F984-5A22-E9D5-0313-B101308AEF99}"/>
              </a:ext>
            </a:extLst>
          </p:cNvPr>
          <p:cNvSpPr txBox="1"/>
          <p:nvPr/>
        </p:nvSpPr>
        <p:spPr>
          <a:xfrm>
            <a:off x="457200" y="304800"/>
            <a:ext cx="9652000" cy="389850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l-GR" sz="2200" b="1">
                <a:solidFill>
                  <a:srgbClr val="111827"/>
                </a:solidFill>
                <a:latin typeface="Aptos" panose="020B0004020202020204" pitchFamily="34" charset="0"/>
              </a:rPr>
              <a:t>ΠΩΣ ΔΟΥΛΕΥΕΙ ΤΟ </a:t>
            </a:r>
            <a:r>
              <a:rPr lang="en-US" sz="2200" b="1">
                <a:solidFill>
                  <a:srgbClr val="111827"/>
                </a:solidFill>
                <a:latin typeface="Aptos" panose="020B0004020202020204" pitchFamily="34" charset="0"/>
              </a:rPr>
              <a:t>INCREMENTAL REFRESH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7BA442-3EE1-0620-07C1-C237CFE00891}"/>
              </a:ext>
            </a:extLst>
          </p:cNvPr>
          <p:cNvSpPr txBox="1"/>
          <p:nvPr/>
        </p:nvSpPr>
        <p:spPr>
          <a:xfrm>
            <a:off x="457200" y="736600"/>
            <a:ext cx="10414000" cy="266740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l-GR">
                <a:solidFill>
                  <a:srgbClr val="4B5563"/>
                </a:solidFill>
                <a:latin typeface="Aptos" panose="020B0004020202020204" pitchFamily="34" charset="0"/>
              </a:rPr>
              <a:t>Δεν διαγράφουμε το DW· κάθε εκτέλεση φορτώνει μόνο την επόμενη κλειστή business day.</a:t>
            </a:r>
            <a:endParaRPr lang="en-US">
              <a:solidFill>
                <a:srgbClr val="4B5563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56B5F4-00CA-864F-A1B9-31CC0525CE38}"/>
              </a:ext>
            </a:extLst>
          </p:cNvPr>
          <p:cNvSpPr txBox="1"/>
          <p:nvPr/>
        </p:nvSpPr>
        <p:spPr>
          <a:xfrm>
            <a:off x="11150600" y="6350000"/>
            <a:ext cx="533400" cy="266740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b="1">
                <a:solidFill>
                  <a:srgbClr val="6B7280"/>
                </a:solidFill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5CF232-0354-61BC-3B70-A835B4F161FD}"/>
              </a:ext>
            </a:extLst>
          </p:cNvPr>
          <p:cNvSpPr/>
          <p:nvPr/>
        </p:nvSpPr>
        <p:spPr>
          <a:xfrm>
            <a:off x="698500" y="1587500"/>
            <a:ext cx="2794000" cy="1270000"/>
          </a:xfrm>
          <a:prstGeom prst="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AEB729-F7A0-FE54-9B64-858D25AFF2A1}"/>
              </a:ext>
            </a:extLst>
          </p:cNvPr>
          <p:cNvSpPr txBox="1"/>
          <p:nvPr/>
        </p:nvSpPr>
        <p:spPr>
          <a:xfrm>
            <a:off x="889000" y="1778000"/>
            <a:ext cx="2286000" cy="297517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1600" b="1">
                <a:solidFill>
                  <a:srgbClr val="1E3A8A"/>
                </a:solidFill>
                <a:latin typeface="Aptos" panose="020B0004020202020204" pitchFamily="34" charset="0"/>
              </a:rPr>
              <a:t>1. ETL control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33382D-6077-351F-81A3-C0AAE4115067}"/>
              </a:ext>
            </a:extLst>
          </p:cNvPr>
          <p:cNvSpPr txBox="1"/>
          <p:nvPr/>
        </p:nvSpPr>
        <p:spPr>
          <a:xfrm>
            <a:off x="889000" y="2133600"/>
            <a:ext cx="2222500" cy="605294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1200">
                <a:solidFill>
                  <a:srgbClr val="374151"/>
                </a:solidFill>
                <a:latin typeface="Aptos" panose="020B0004020202020204" pitchFamily="34" charset="0"/>
              </a:rPr>
              <a:t>Κρατά simulated_now, last_loaded_date, safety_delay_hours και status.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D53705-3CEF-C1B7-3DBE-5DCD7B6AFD2C}"/>
              </a:ext>
            </a:extLst>
          </p:cNvPr>
          <p:cNvSpPr/>
          <p:nvPr/>
        </p:nvSpPr>
        <p:spPr>
          <a:xfrm>
            <a:off x="4445000" y="1587500"/>
            <a:ext cx="2794000" cy="1270000"/>
          </a:xfrm>
          <a:prstGeom prst="rect">
            <a:avLst/>
          </a:prstGeom>
          <a:solidFill>
            <a:srgbClr val="ECFDF5"/>
          </a:solidFill>
          <a:ln w="12700">
            <a:solidFill>
              <a:srgbClr val="34D3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B381F8-C28E-DEE8-E836-F90E2DC6007B}"/>
              </a:ext>
            </a:extLst>
          </p:cNvPr>
          <p:cNvSpPr txBox="1"/>
          <p:nvPr/>
        </p:nvSpPr>
        <p:spPr>
          <a:xfrm>
            <a:off x="4635500" y="1778000"/>
            <a:ext cx="2286000" cy="297517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1600" b="1">
                <a:solidFill>
                  <a:srgbClr val="065F46"/>
                </a:solidFill>
                <a:latin typeface="Aptos" panose="020B0004020202020204" pitchFamily="34" charset="0"/>
              </a:rPr>
              <a:t>2. Closed day rule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10481B-EBA0-49A9-4258-5968D0F9C759}"/>
              </a:ext>
            </a:extLst>
          </p:cNvPr>
          <p:cNvSpPr txBox="1"/>
          <p:nvPr/>
        </p:nvSpPr>
        <p:spPr>
          <a:xfrm>
            <a:off x="4635500" y="2133600"/>
            <a:ext cx="2222500" cy="789960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l-GR" sz="1200">
                <a:solidFill>
                  <a:srgbClr val="374151"/>
                </a:solidFill>
                <a:latin typeface="Aptos" panose="020B0004020202020204" pitchFamily="34" charset="0"/>
              </a:rPr>
              <a:t>Μια ημέρα κλείνει μετά από 3 ώρες, ώστε να μπουν late arrivals, booking corrections και weather rows.</a:t>
            </a:r>
            <a:endParaRPr lang="en-US" sz="1200">
              <a:solidFill>
                <a:srgbClr val="374151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CE55DA2-0FCE-2FCB-0A17-83E2F16C9E44}"/>
              </a:ext>
            </a:extLst>
          </p:cNvPr>
          <p:cNvSpPr/>
          <p:nvPr/>
        </p:nvSpPr>
        <p:spPr>
          <a:xfrm>
            <a:off x="8191500" y="1587500"/>
            <a:ext cx="2794000" cy="12700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8FBD15-6268-5C80-7FB2-D8479C3D552A}"/>
              </a:ext>
            </a:extLst>
          </p:cNvPr>
          <p:cNvSpPr txBox="1"/>
          <p:nvPr/>
        </p:nvSpPr>
        <p:spPr>
          <a:xfrm>
            <a:off x="8382000" y="1778000"/>
            <a:ext cx="2286000" cy="297517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1600" b="1">
                <a:solidFill>
                  <a:srgbClr val="92400E"/>
                </a:solidFill>
                <a:latin typeface="Aptos" panose="020B0004020202020204" pitchFamily="34" charset="0"/>
              </a:rPr>
              <a:t>3. Load next day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F3E801-8CB2-3376-6AF0-8338295F414A}"/>
              </a:ext>
            </a:extLst>
          </p:cNvPr>
          <p:cNvSpPr txBox="1"/>
          <p:nvPr/>
        </p:nvSpPr>
        <p:spPr>
          <a:xfrm>
            <a:off x="8382000" y="2133600"/>
            <a:ext cx="2222500" cy="605294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l-GR" sz="1200">
                <a:solidFill>
                  <a:srgbClr val="374151"/>
                </a:solidFill>
                <a:latin typeface="Aptos" panose="020B0004020202020204" pitchFamily="34" charset="0"/>
              </a:rPr>
              <a:t>Η </a:t>
            </a:r>
            <a:r>
              <a:rPr lang="en-US" sz="1200">
                <a:solidFill>
                  <a:srgbClr val="374151"/>
                </a:solidFill>
                <a:latin typeface="Aptos" panose="020B0004020202020204" pitchFamily="34" charset="0"/>
              </a:rPr>
              <a:t>procedure </a:t>
            </a:r>
            <a:r>
              <a:rPr lang="el-GR" sz="1200">
                <a:solidFill>
                  <a:srgbClr val="374151"/>
                </a:solidFill>
                <a:latin typeface="Aptos" panose="020B0004020202020204" pitchFamily="34" charset="0"/>
              </a:rPr>
              <a:t>φορτώνει μόνο </a:t>
            </a:r>
            <a:r>
              <a:rPr lang="en-US" sz="1200">
                <a:solidFill>
                  <a:srgbClr val="374151"/>
                </a:solidFill>
                <a:latin typeface="Aptos" panose="020B0004020202020204" pitchFamily="34" charset="0"/>
              </a:rPr>
              <a:t>next_from </a:t>
            </a:r>
            <a:r>
              <a:rPr lang="el-GR" sz="1200">
                <a:solidFill>
                  <a:srgbClr val="374151"/>
                </a:solidFill>
                <a:latin typeface="Aptos" panose="020B0004020202020204" pitchFamily="34" charset="0"/>
              </a:rPr>
              <a:t>έως </a:t>
            </a:r>
            <a:r>
              <a:rPr lang="en-US" sz="1200">
                <a:solidFill>
                  <a:srgbClr val="374151"/>
                </a:solidFill>
                <a:latin typeface="Aptos" panose="020B0004020202020204" pitchFamily="34" charset="0"/>
              </a:rPr>
              <a:t>next_to </a:t>
            </a:r>
            <a:r>
              <a:rPr lang="el-GR" sz="1200">
                <a:solidFill>
                  <a:srgbClr val="374151"/>
                </a:solidFill>
                <a:latin typeface="Aptos" panose="020B0004020202020204" pitchFamily="34" charset="0"/>
              </a:rPr>
              <a:t>και γράφει </a:t>
            </a:r>
            <a:r>
              <a:rPr lang="en-US" sz="1200">
                <a:solidFill>
                  <a:srgbClr val="374151"/>
                </a:solidFill>
                <a:latin typeface="Aptos" panose="020B0004020202020204" pitchFamily="34" charset="0"/>
              </a:rPr>
              <a:t>row </a:t>
            </a:r>
            <a:r>
              <a:rPr lang="el-GR" sz="1200">
                <a:solidFill>
                  <a:srgbClr val="374151"/>
                </a:solidFill>
                <a:latin typeface="Aptos" panose="020B0004020202020204" pitchFamily="34" charset="0"/>
              </a:rPr>
              <a:t>στο </a:t>
            </a:r>
            <a:r>
              <a:rPr lang="en-US" sz="1200">
                <a:solidFill>
                  <a:srgbClr val="374151"/>
                </a:solidFill>
                <a:latin typeface="Aptos" panose="020B0004020202020204" pitchFamily="34" charset="0"/>
              </a:rPr>
              <a:t>etl_run_log.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457E1EE-D973-7B08-6D72-1336FA0F6C75}"/>
              </a:ext>
            </a:extLst>
          </p:cNvPr>
          <p:cNvCxnSpPr/>
          <p:nvPr/>
        </p:nvCxnSpPr>
        <p:spPr>
          <a:xfrm>
            <a:off x="3619500" y="2209800"/>
            <a:ext cx="673100" cy="0"/>
          </a:xfrm>
          <a:prstGeom prst="line">
            <a:avLst/>
          </a:prstGeom>
          <a:ln w="25400">
            <a:solidFill>
              <a:srgbClr val="6B728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E6F9F15-0EE0-0DF6-D787-E5A779FC36F1}"/>
              </a:ext>
            </a:extLst>
          </p:cNvPr>
          <p:cNvCxnSpPr/>
          <p:nvPr/>
        </p:nvCxnSpPr>
        <p:spPr>
          <a:xfrm>
            <a:off x="7366000" y="2209800"/>
            <a:ext cx="673100" cy="0"/>
          </a:xfrm>
          <a:prstGeom prst="line">
            <a:avLst/>
          </a:prstGeom>
          <a:ln w="25400">
            <a:solidFill>
              <a:srgbClr val="6B728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C10314F-FDCF-C6B2-09A2-E314827B0470}"/>
              </a:ext>
            </a:extLst>
          </p:cNvPr>
          <p:cNvSpPr txBox="1"/>
          <p:nvPr/>
        </p:nvSpPr>
        <p:spPr>
          <a:xfrm>
            <a:off x="812800" y="3429000"/>
            <a:ext cx="2540000" cy="297517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1600" b="1">
                <a:solidFill>
                  <a:srgbClr val="111827"/>
                </a:solidFill>
                <a:latin typeface="Aptos" panose="020B0004020202020204" pitchFamily="34" charset="0"/>
              </a:rPr>
              <a:t>Demo state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BE7CB8-BF25-23C7-6E37-A3900D029175}"/>
              </a:ext>
            </a:extLst>
          </p:cNvPr>
          <p:cNvSpPr txBox="1"/>
          <p:nvPr/>
        </p:nvSpPr>
        <p:spPr>
          <a:xfrm>
            <a:off x="812800" y="3860800"/>
            <a:ext cx="4572000" cy="1169551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>
                <a:solidFill>
                  <a:srgbClr val="374151"/>
                </a:solidFill>
                <a:latin typeface="Aptos" panose="020B0004020202020204" pitchFamily="34" charset="0"/>
              </a:rPr>
              <a:t>Initial load: 2015-06-01 έως 2015-06-30 = 149,254 flights
Run 2: 2015-07-01 = +4,947 flights
Run 3: 2015-07-02 = +4,894 flights
Run 4: 2015-07-03 = +5,017 flights
Current total: 164,112 flights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6755871-543E-DF2D-00E6-A38731345698}"/>
              </a:ext>
            </a:extLst>
          </p:cNvPr>
          <p:cNvSpPr txBox="1"/>
          <p:nvPr/>
        </p:nvSpPr>
        <p:spPr>
          <a:xfrm>
            <a:off x="6350000" y="3429000"/>
            <a:ext cx="2540000" cy="297517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1600" b="1">
                <a:solidFill>
                  <a:srgbClr val="111827"/>
                </a:solidFill>
                <a:latin typeface="Aptos" panose="020B0004020202020204" pitchFamily="34" charset="0"/>
              </a:rPr>
              <a:t>SQL demo command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45478EF-A88B-066F-65AC-E7167A581B2F}"/>
              </a:ext>
            </a:extLst>
          </p:cNvPr>
          <p:cNvSpPr/>
          <p:nvPr/>
        </p:nvSpPr>
        <p:spPr>
          <a:xfrm>
            <a:off x="6350000" y="3860800"/>
            <a:ext cx="4318000" cy="1397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800CF3E-0590-1B26-E150-F6D647455836}"/>
              </a:ext>
            </a:extLst>
          </p:cNvPr>
          <p:cNvSpPr txBox="1"/>
          <p:nvPr/>
        </p:nvSpPr>
        <p:spPr>
          <a:xfrm>
            <a:off x="6502400" y="4038600"/>
            <a:ext cx="4064000" cy="789960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1200">
                <a:solidFill>
                  <a:srgbClr val="F9FAFB"/>
                </a:solidFill>
                <a:latin typeface="Aptos" panose="020B0004020202020204" pitchFamily="34" charset="0"/>
              </a:rPr>
              <a:t>CALL airportdw.refresh_airportdw_next_closed_days();
SELECT * FROM airportdw.vw_etl_run_history ORDER BY run_id;
SELECT COUNT(*) FROM airportdw.fact_flight;</a:t>
            </a:r>
          </a:p>
        </p:txBody>
      </p:sp>
    </p:spTree>
    <p:extLst>
      <p:ext uri="{BB962C8B-B14F-4D97-AF65-F5344CB8AC3E}">
        <p14:creationId xmlns:p14="http://schemas.microsoft.com/office/powerpoint/2010/main" val="33199674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33C748-87A1-B437-B0FC-E00494E55C28}"/>
              </a:ext>
            </a:extLst>
          </p:cNvPr>
          <p:cNvSpPr txBox="1"/>
          <p:nvPr/>
        </p:nvSpPr>
        <p:spPr>
          <a:xfrm>
            <a:off x="457200" y="304800"/>
            <a:ext cx="9652000" cy="389850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2200" b="1">
                <a:solidFill>
                  <a:srgbClr val="111827"/>
                </a:solidFill>
                <a:latin typeface="Aptos" panose="020B0004020202020204" pitchFamily="34" charset="0"/>
              </a:rPr>
              <a:t>MYSQL EVENT SCHEDULER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B435A0-7D3E-C923-DA31-E9A19EB55206}"/>
              </a:ext>
            </a:extLst>
          </p:cNvPr>
          <p:cNvSpPr txBox="1"/>
          <p:nvPr/>
        </p:nvSpPr>
        <p:spPr>
          <a:xfrm>
            <a:off x="457200" y="736600"/>
            <a:ext cx="10414000" cy="266740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l-GR">
                <a:solidFill>
                  <a:srgbClr val="4B5563"/>
                </a:solidFill>
                <a:latin typeface="Aptos" panose="020B0004020202020204" pitchFamily="34" charset="0"/>
              </a:rPr>
              <a:t>Ο scheduler είναι ο τρόπος να τρέχει το refresh αυτόματα στο database layer.</a:t>
            </a:r>
            <a:endParaRPr lang="en-US">
              <a:solidFill>
                <a:srgbClr val="4B5563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905F9D-1A8F-641C-20DB-6B5A58C84F3D}"/>
              </a:ext>
            </a:extLst>
          </p:cNvPr>
          <p:cNvSpPr txBox="1"/>
          <p:nvPr/>
        </p:nvSpPr>
        <p:spPr>
          <a:xfrm>
            <a:off x="11150600" y="6350000"/>
            <a:ext cx="533400" cy="266740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b="1">
                <a:solidFill>
                  <a:srgbClr val="6B7280"/>
                </a:solidFill>
                <a:latin typeface="Aptos" panose="020B0004020202020204" pitchFamily="34" charset="0"/>
              </a:rPr>
              <a:t>11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DC99CC-2424-2260-914B-084A93BB3D0A}"/>
              </a:ext>
            </a:extLst>
          </p:cNvPr>
          <p:cNvSpPr txBox="1"/>
          <p:nvPr/>
        </p:nvSpPr>
        <p:spPr>
          <a:xfrm>
            <a:off x="711200" y="1524000"/>
            <a:ext cx="2794000" cy="312906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l-GR" sz="1700" b="1">
                <a:solidFill>
                  <a:srgbClr val="111827"/>
                </a:solidFill>
                <a:latin typeface="Aptos" panose="020B0004020202020204" pitchFamily="34" charset="0"/>
              </a:rPr>
              <a:t>Τι επιλέξαμε</a:t>
            </a:r>
            <a:endParaRPr lang="en-US" sz="1700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ED2F68-1452-1CD5-F0E3-7B9EE7C2C1D0}"/>
              </a:ext>
            </a:extLst>
          </p:cNvPr>
          <p:cNvSpPr txBox="1"/>
          <p:nvPr/>
        </p:nvSpPr>
        <p:spPr>
          <a:xfrm>
            <a:off x="711200" y="1955800"/>
            <a:ext cx="4572000" cy="974626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l-GR" sz="1500">
                <a:solidFill>
                  <a:srgbClr val="374151"/>
                </a:solidFill>
                <a:latin typeface="Aptos" panose="020B0004020202020204" pitchFamily="34" charset="0"/>
              </a:rPr>
              <a:t>Χρησιμοποιήσαμε </a:t>
            </a:r>
            <a:r>
              <a:rPr lang="en-US" sz="1500">
                <a:solidFill>
                  <a:srgbClr val="374151"/>
                </a:solidFill>
                <a:latin typeface="Aptos" panose="020B0004020202020204" pitchFamily="34" charset="0"/>
              </a:rPr>
              <a:t>MySQL Event Scheduler </a:t>
            </a:r>
            <a:r>
              <a:rPr lang="el-GR" sz="1500">
                <a:solidFill>
                  <a:srgbClr val="374151"/>
                </a:solidFill>
                <a:latin typeface="Aptos" panose="020B0004020202020204" pitchFamily="34" charset="0"/>
              </a:rPr>
              <a:t>για να δείξουμε </a:t>
            </a:r>
            <a:r>
              <a:rPr lang="en-US" sz="1500">
                <a:solidFill>
                  <a:srgbClr val="374151"/>
                </a:solidFill>
                <a:latin typeface="Aptos" panose="020B0004020202020204" pitchFamily="34" charset="0"/>
              </a:rPr>
              <a:t>production-like </a:t>
            </a:r>
            <a:r>
              <a:rPr lang="el-GR" sz="1500">
                <a:solidFill>
                  <a:srgbClr val="374151"/>
                </a:solidFill>
                <a:latin typeface="Aptos" panose="020B0004020202020204" pitchFamily="34" charset="0"/>
              </a:rPr>
              <a:t>αυτοματοποίηση. Στο </a:t>
            </a:r>
            <a:r>
              <a:rPr lang="en-US" sz="1500">
                <a:solidFill>
                  <a:srgbClr val="374151"/>
                </a:solidFill>
                <a:latin typeface="Aptos" panose="020B0004020202020204" pitchFamily="34" charset="0"/>
              </a:rPr>
              <a:t>local demo </a:t>
            </a:r>
            <a:r>
              <a:rPr lang="el-GR" sz="1500">
                <a:solidFill>
                  <a:srgbClr val="374151"/>
                </a:solidFill>
                <a:latin typeface="Aptos" panose="020B0004020202020204" pitchFamily="34" charset="0"/>
              </a:rPr>
              <a:t>μπορούμε να τρέξουμε και </a:t>
            </a:r>
            <a:r>
              <a:rPr lang="en-US" sz="1500">
                <a:solidFill>
                  <a:srgbClr val="374151"/>
                </a:solidFill>
                <a:latin typeface="Aptos" panose="020B0004020202020204" pitchFamily="34" charset="0"/>
              </a:rPr>
              <a:t>manual call, </a:t>
            </a:r>
            <a:r>
              <a:rPr lang="el-GR" sz="1500">
                <a:solidFill>
                  <a:srgbClr val="374151"/>
                </a:solidFill>
                <a:latin typeface="Aptos" panose="020B0004020202020204" pitchFamily="34" charset="0"/>
              </a:rPr>
              <a:t>γιατί η </a:t>
            </a:r>
            <a:r>
              <a:rPr lang="en-US" sz="1500">
                <a:solidFill>
                  <a:srgbClr val="374151"/>
                </a:solidFill>
                <a:latin typeface="Aptos" panose="020B0004020202020204" pitchFamily="34" charset="0"/>
              </a:rPr>
              <a:t>airportdb </a:t>
            </a:r>
            <a:r>
              <a:rPr lang="el-GR" sz="1500">
                <a:solidFill>
                  <a:srgbClr val="374151"/>
                </a:solidFill>
                <a:latin typeface="Aptos" panose="020B0004020202020204" pitchFamily="34" charset="0"/>
              </a:rPr>
              <a:t>είναι ιστορικό </a:t>
            </a:r>
            <a:r>
              <a:rPr lang="en-US" sz="1500">
                <a:solidFill>
                  <a:srgbClr val="374151"/>
                </a:solidFill>
                <a:latin typeface="Aptos" panose="020B0004020202020204" pitchFamily="34" charset="0"/>
              </a:rPr>
              <a:t>sample dataset.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9BCB2F-9867-A8E0-89CE-4EC9D30666E1}"/>
              </a:ext>
            </a:extLst>
          </p:cNvPr>
          <p:cNvSpPr txBox="1"/>
          <p:nvPr/>
        </p:nvSpPr>
        <p:spPr>
          <a:xfrm>
            <a:off x="711200" y="3302000"/>
            <a:ext cx="2794000" cy="312906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l-GR" sz="1700" b="1">
                <a:solidFill>
                  <a:srgbClr val="111827"/>
                </a:solidFill>
                <a:latin typeface="Aptos" panose="020B0004020202020204" pitchFamily="34" charset="0"/>
              </a:rPr>
              <a:t>Πραγματικό σενάριο</a:t>
            </a:r>
            <a:endParaRPr lang="en-US" sz="1700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43B439-DA10-4DE2-507E-A5BB0A5DDB5D}"/>
              </a:ext>
            </a:extLst>
          </p:cNvPr>
          <p:cNvSpPr txBox="1"/>
          <p:nvPr/>
        </p:nvSpPr>
        <p:spPr>
          <a:xfrm>
            <a:off x="711200" y="3733800"/>
            <a:ext cx="4572000" cy="974626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1500">
                <a:solidFill>
                  <a:srgbClr val="374151"/>
                </a:solidFill>
                <a:latin typeface="Aptos" panose="020B0004020202020204" pitchFamily="34" charset="0"/>
              </a:rPr>
              <a:t>02:30: MySQL refreshes airportdw
03:00: Power BI Service/Gateway refreshes dashboard
Local demo: Workbench CALL + Power BI Home -&gt; Refresh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3FB359-1E99-9563-E3BF-79E062791F6F}"/>
              </a:ext>
            </a:extLst>
          </p:cNvPr>
          <p:cNvSpPr/>
          <p:nvPr/>
        </p:nvSpPr>
        <p:spPr>
          <a:xfrm>
            <a:off x="5969000" y="1549400"/>
            <a:ext cx="4572000" cy="2667000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54AF5A-2E25-31BA-1ED6-DF2DD4B785E7}"/>
              </a:ext>
            </a:extLst>
          </p:cNvPr>
          <p:cNvSpPr txBox="1"/>
          <p:nvPr/>
        </p:nvSpPr>
        <p:spPr>
          <a:xfrm>
            <a:off x="6223000" y="1803400"/>
            <a:ext cx="3810000" cy="297517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1600" b="1">
                <a:solidFill>
                  <a:srgbClr val="111827"/>
                </a:solidFill>
                <a:latin typeface="Aptos" panose="020B0004020202020204" pitchFamily="34" charset="0"/>
              </a:rPr>
              <a:t>Scheduler SQL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BED27D-F978-8BA1-0ABB-9D77EF80D3D5}"/>
              </a:ext>
            </a:extLst>
          </p:cNvPr>
          <p:cNvSpPr txBox="1"/>
          <p:nvPr/>
        </p:nvSpPr>
        <p:spPr>
          <a:xfrm>
            <a:off x="6223000" y="2235200"/>
            <a:ext cx="4064000" cy="1451679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1300">
                <a:solidFill>
                  <a:srgbClr val="1F2937"/>
                </a:solidFill>
                <a:latin typeface="Aptos" panose="020B0004020202020204" pitchFamily="34" charset="0"/>
              </a:rPr>
              <a:t>SET GLOBAL event_scheduler = ON;
CREATE EVENT ev_refresh_airportdw_closed_days
ON SCHEDULE EVERY 1 DAY
STARTS '2026-05-25 02:30:00'
DO CALL airportdw.refresh_airportdw_next_closed_days();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95E57C-FAED-E75A-5D5D-0BBC0411F8EC}"/>
              </a:ext>
            </a:extLst>
          </p:cNvPr>
          <p:cNvSpPr txBox="1"/>
          <p:nvPr/>
        </p:nvSpPr>
        <p:spPr>
          <a:xfrm>
            <a:off x="5969000" y="4635500"/>
            <a:ext cx="4572000" cy="743793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l-GR" sz="1500" b="1">
                <a:solidFill>
                  <a:srgbClr val="B45309"/>
                </a:solidFill>
                <a:latin typeface="Aptos" panose="020B0004020202020204" pitchFamily="34" charset="0"/>
              </a:rPr>
              <a:t>Σημαντικό: το Power BI Desktop δεν ανανεώνεται μόνο του όταν αλλάζει η MySQL. Μετά το ETL, πατάμε Home -&gt; Refresh.</a:t>
            </a:r>
            <a:endParaRPr lang="en-US" sz="1500" b="1">
              <a:solidFill>
                <a:srgbClr val="B45309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29978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A4A7C2-3FA1-1FA4-4437-7112864CC4D6}"/>
              </a:ext>
            </a:extLst>
          </p:cNvPr>
          <p:cNvSpPr txBox="1"/>
          <p:nvPr/>
        </p:nvSpPr>
        <p:spPr>
          <a:xfrm>
            <a:off x="457200" y="304800"/>
            <a:ext cx="9652000" cy="389850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2200" b="1">
                <a:solidFill>
                  <a:srgbClr val="111827"/>
                </a:solidFill>
                <a:latin typeface="Aptos" panose="020B0004020202020204" pitchFamily="34" charset="0"/>
              </a:rPr>
              <a:t>POWER BI DASHBOARD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54A7D0-6731-F812-6B03-8E0FF84994EB}"/>
              </a:ext>
            </a:extLst>
          </p:cNvPr>
          <p:cNvSpPr txBox="1"/>
          <p:nvPr/>
        </p:nvSpPr>
        <p:spPr>
          <a:xfrm>
            <a:off x="457200" y="736600"/>
            <a:ext cx="10414000" cy="266740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l-GR">
                <a:solidFill>
                  <a:srgbClr val="4B5563"/>
                </a:solidFill>
                <a:latin typeface="Aptos" panose="020B0004020202020204" pitchFamily="34" charset="0"/>
              </a:rPr>
              <a:t>Χρησιμοποιούμε λίγα τελικά views που απαντούν συγκεκριμένες business ερωτήσεις.</a:t>
            </a:r>
            <a:endParaRPr lang="en-US">
              <a:solidFill>
                <a:srgbClr val="4B5563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B923AB-917B-82F7-0C62-6C5108498FC0}"/>
              </a:ext>
            </a:extLst>
          </p:cNvPr>
          <p:cNvSpPr txBox="1"/>
          <p:nvPr/>
        </p:nvSpPr>
        <p:spPr>
          <a:xfrm>
            <a:off x="11150600" y="6350000"/>
            <a:ext cx="533400" cy="266740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b="1">
                <a:solidFill>
                  <a:srgbClr val="6B7280"/>
                </a:solidFill>
                <a:latin typeface="Aptos" panose="020B0004020202020204" pitchFamily="34" charset="0"/>
              </a:rPr>
              <a:t>12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DEB54A-9118-A7F3-3BFB-34E627AED44D}"/>
              </a:ext>
            </a:extLst>
          </p:cNvPr>
          <p:cNvSpPr/>
          <p:nvPr/>
        </p:nvSpPr>
        <p:spPr>
          <a:xfrm>
            <a:off x="571500" y="1587500"/>
            <a:ext cx="3238500" cy="1041400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53D9AE-5A2D-8691-10CE-C5CC7AD456C1}"/>
              </a:ext>
            </a:extLst>
          </p:cNvPr>
          <p:cNvSpPr txBox="1"/>
          <p:nvPr/>
        </p:nvSpPr>
        <p:spPr>
          <a:xfrm>
            <a:off x="698500" y="1689100"/>
            <a:ext cx="2984500" cy="251351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1300" b="1">
                <a:solidFill>
                  <a:srgbClr val="111827"/>
                </a:solidFill>
                <a:latin typeface="Aptos" panose="020B0004020202020204" pitchFamily="34" charset="0"/>
              </a:rPr>
              <a:t>Top Airports by Flight Activity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241F47-6A72-F216-883A-8332401C4124}"/>
              </a:ext>
            </a:extLst>
          </p:cNvPr>
          <p:cNvSpPr txBox="1"/>
          <p:nvPr/>
        </p:nvSpPr>
        <p:spPr>
          <a:xfrm>
            <a:off x="698500" y="2006600"/>
            <a:ext cx="2984500" cy="205184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1000">
                <a:solidFill>
                  <a:srgbClr val="2563EB"/>
                </a:solidFill>
                <a:latin typeface="Aptos" panose="020B0004020202020204" pitchFamily="34" charset="0"/>
              </a:rPr>
              <a:t>vw_top20_airport_map_traffic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C42EFD-BF68-93ED-66D4-088BF7EC57B0}"/>
              </a:ext>
            </a:extLst>
          </p:cNvPr>
          <p:cNvSpPr txBox="1"/>
          <p:nvPr/>
        </p:nvSpPr>
        <p:spPr>
          <a:xfrm>
            <a:off x="698500" y="2260600"/>
            <a:ext cx="2984500" cy="205184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l-GR" sz="1000">
                <a:solidFill>
                  <a:srgbClr val="4B5563"/>
                </a:solidFill>
                <a:latin typeface="Aptos" panose="020B0004020202020204" pitchFamily="34" charset="0"/>
              </a:rPr>
              <a:t>Πού συγκεντρώνεται η κίνηση;</a:t>
            </a:r>
            <a:endParaRPr lang="en-US" sz="1000">
              <a:solidFill>
                <a:srgbClr val="4B5563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05B91F-664A-56F9-2255-A2422102A23C}"/>
              </a:ext>
            </a:extLst>
          </p:cNvPr>
          <p:cNvSpPr/>
          <p:nvPr/>
        </p:nvSpPr>
        <p:spPr>
          <a:xfrm>
            <a:off x="4191000" y="1587500"/>
            <a:ext cx="3238500" cy="1041400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A9B3B0-D44D-761E-80C8-DEDC95BC63BA}"/>
              </a:ext>
            </a:extLst>
          </p:cNvPr>
          <p:cNvSpPr txBox="1"/>
          <p:nvPr/>
        </p:nvSpPr>
        <p:spPr>
          <a:xfrm>
            <a:off x="4318000" y="1689100"/>
            <a:ext cx="2984500" cy="251351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1300" b="1">
                <a:solidFill>
                  <a:srgbClr val="111827"/>
                </a:solidFill>
                <a:latin typeface="Aptos" panose="020B0004020202020204" pitchFamily="34" charset="0"/>
              </a:rPr>
              <a:t>Top Countries by Revenue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28366A-B2FB-0A5E-E4EB-41DC38C6B30E}"/>
              </a:ext>
            </a:extLst>
          </p:cNvPr>
          <p:cNvSpPr txBox="1"/>
          <p:nvPr/>
        </p:nvSpPr>
        <p:spPr>
          <a:xfrm>
            <a:off x="4318000" y="2006600"/>
            <a:ext cx="2984500" cy="205184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1000">
                <a:solidFill>
                  <a:srgbClr val="2563EB"/>
                </a:solidFill>
                <a:latin typeface="Aptos" panose="020B0004020202020204" pitchFamily="34" charset="0"/>
              </a:rPr>
              <a:t>vw_top_countries_by_revenue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C24657-EF34-6067-1677-93154D8B47B8}"/>
              </a:ext>
            </a:extLst>
          </p:cNvPr>
          <p:cNvSpPr txBox="1"/>
          <p:nvPr/>
        </p:nvSpPr>
        <p:spPr>
          <a:xfrm>
            <a:off x="4318000" y="2260600"/>
            <a:ext cx="2984500" cy="205184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l-GR" sz="1000">
                <a:solidFill>
                  <a:srgbClr val="4B5563"/>
                </a:solidFill>
                <a:latin typeface="Aptos" panose="020B0004020202020204" pitchFamily="34" charset="0"/>
              </a:rPr>
              <a:t>Ποιες χώρες φέρνουν </a:t>
            </a:r>
            <a:r>
              <a:rPr lang="en-US" sz="1000">
                <a:solidFill>
                  <a:srgbClr val="4B5563"/>
                </a:solidFill>
                <a:latin typeface="Aptos" panose="020B0004020202020204" pitchFamily="34" charset="0"/>
              </a:rPr>
              <a:t>revenue;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3EF340-9FA3-CE26-59AB-A6AF910669CC}"/>
              </a:ext>
            </a:extLst>
          </p:cNvPr>
          <p:cNvSpPr/>
          <p:nvPr/>
        </p:nvSpPr>
        <p:spPr>
          <a:xfrm>
            <a:off x="7810500" y="1587500"/>
            <a:ext cx="3238500" cy="1041400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BA3DEB-E46E-D281-4EDA-516F57639AA3}"/>
              </a:ext>
            </a:extLst>
          </p:cNvPr>
          <p:cNvSpPr txBox="1"/>
          <p:nvPr/>
        </p:nvSpPr>
        <p:spPr>
          <a:xfrm>
            <a:off x="7937500" y="1689100"/>
            <a:ext cx="2984500" cy="251351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1300" b="1">
                <a:solidFill>
                  <a:srgbClr val="111827"/>
                </a:solidFill>
                <a:latin typeface="Aptos" panose="020B0004020202020204" pitchFamily="34" charset="0"/>
              </a:rPr>
              <a:t>Top Airlines by Revenue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A7D43E-3548-EF45-3814-CA22F27F5744}"/>
              </a:ext>
            </a:extLst>
          </p:cNvPr>
          <p:cNvSpPr txBox="1"/>
          <p:nvPr/>
        </p:nvSpPr>
        <p:spPr>
          <a:xfrm>
            <a:off x="7937500" y="2006600"/>
            <a:ext cx="2984500" cy="205184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1000">
                <a:solidFill>
                  <a:srgbClr val="2563EB"/>
                </a:solidFill>
                <a:latin typeface="Aptos" panose="020B0004020202020204" pitchFamily="34" charset="0"/>
              </a:rPr>
              <a:t>vw_top_airlines_by_revenue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6090C3E-16BF-92FB-69B1-97208B216EBE}"/>
              </a:ext>
            </a:extLst>
          </p:cNvPr>
          <p:cNvSpPr txBox="1"/>
          <p:nvPr/>
        </p:nvSpPr>
        <p:spPr>
          <a:xfrm>
            <a:off x="7937500" y="2260600"/>
            <a:ext cx="2984500" cy="205184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l-GR" sz="1000">
                <a:solidFill>
                  <a:srgbClr val="4B5563"/>
                </a:solidFill>
                <a:latin typeface="Aptos" panose="020B0004020202020204" pitchFamily="34" charset="0"/>
              </a:rPr>
              <a:t>Ποιες </a:t>
            </a:r>
            <a:r>
              <a:rPr lang="en-US" sz="1000">
                <a:solidFill>
                  <a:srgbClr val="4B5563"/>
                </a:solidFill>
                <a:latin typeface="Aptos" panose="020B0004020202020204" pitchFamily="34" charset="0"/>
              </a:rPr>
              <a:t>airlines </a:t>
            </a:r>
            <a:r>
              <a:rPr lang="el-GR" sz="1000">
                <a:solidFill>
                  <a:srgbClr val="4B5563"/>
                </a:solidFill>
                <a:latin typeface="Aptos" panose="020B0004020202020204" pitchFamily="34" charset="0"/>
              </a:rPr>
              <a:t>ξεχωρίζουν;</a:t>
            </a:r>
            <a:endParaRPr lang="en-US" sz="1000">
              <a:solidFill>
                <a:srgbClr val="4B5563"/>
              </a:solidFill>
              <a:latin typeface="Aptos" panose="020B00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8B3D95D-9403-4852-F7C5-58ED74728672}"/>
              </a:ext>
            </a:extLst>
          </p:cNvPr>
          <p:cNvSpPr/>
          <p:nvPr/>
        </p:nvSpPr>
        <p:spPr>
          <a:xfrm>
            <a:off x="571500" y="3086100"/>
            <a:ext cx="3238500" cy="1041400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40307A9-93CB-05E5-1856-A6D7D03F817C}"/>
              </a:ext>
            </a:extLst>
          </p:cNvPr>
          <p:cNvSpPr txBox="1"/>
          <p:nvPr/>
        </p:nvSpPr>
        <p:spPr>
          <a:xfrm>
            <a:off x="698500" y="3187700"/>
            <a:ext cx="2984500" cy="251351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1300" b="1">
                <a:solidFill>
                  <a:srgbClr val="111827"/>
                </a:solidFill>
                <a:latin typeface="Aptos" panose="020B0004020202020204" pitchFamily="34" charset="0"/>
              </a:rPr>
              <a:t>Revenue Share by Top Airlines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8C99336-9D26-9B7B-0B49-F23E676B3970}"/>
              </a:ext>
            </a:extLst>
          </p:cNvPr>
          <p:cNvSpPr txBox="1"/>
          <p:nvPr/>
        </p:nvSpPr>
        <p:spPr>
          <a:xfrm>
            <a:off x="698500" y="3505200"/>
            <a:ext cx="2984500" cy="205184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1000">
                <a:solidFill>
                  <a:srgbClr val="2563EB"/>
                </a:solidFill>
                <a:latin typeface="Aptos" panose="020B0004020202020204" pitchFamily="34" charset="0"/>
              </a:rPr>
              <a:t>vw_top_airlines_by_revenue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152BFFC-CC3B-BB79-26CE-DA6440FC79D5}"/>
              </a:ext>
            </a:extLst>
          </p:cNvPr>
          <p:cNvSpPr txBox="1"/>
          <p:nvPr/>
        </p:nvSpPr>
        <p:spPr>
          <a:xfrm>
            <a:off x="698500" y="3759200"/>
            <a:ext cx="2984500" cy="205184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l-GR" sz="1000">
                <a:solidFill>
                  <a:srgbClr val="4B5563"/>
                </a:solidFill>
                <a:latin typeface="Aptos" panose="020B0004020202020204" pitchFamily="34" charset="0"/>
              </a:rPr>
              <a:t>Πώς μοιράζεται το </a:t>
            </a:r>
            <a:r>
              <a:rPr lang="en-US" sz="1000">
                <a:solidFill>
                  <a:srgbClr val="4B5563"/>
                </a:solidFill>
                <a:latin typeface="Aptos" panose="020B0004020202020204" pitchFamily="34" charset="0"/>
              </a:rPr>
              <a:t>revenue;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7AAE9DC-D71A-6F30-148B-2FB25ED20A77}"/>
              </a:ext>
            </a:extLst>
          </p:cNvPr>
          <p:cNvSpPr/>
          <p:nvPr/>
        </p:nvSpPr>
        <p:spPr>
          <a:xfrm>
            <a:off x="4191000" y="3086100"/>
            <a:ext cx="3238500" cy="1041400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38D569D-5705-B8EC-5520-557891CE03C8}"/>
              </a:ext>
            </a:extLst>
          </p:cNvPr>
          <p:cNvSpPr txBox="1"/>
          <p:nvPr/>
        </p:nvSpPr>
        <p:spPr>
          <a:xfrm>
            <a:off x="4318000" y="3187700"/>
            <a:ext cx="2984500" cy="251351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1300" b="1">
                <a:solidFill>
                  <a:srgbClr val="111827"/>
                </a:solidFill>
                <a:latin typeface="Aptos" panose="020B0004020202020204" pitchFamily="34" charset="0"/>
              </a:rPr>
              <a:t>Revenue by Loaded Month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5696AFE-BC29-504C-96BB-D6FF8CCF34FE}"/>
              </a:ext>
            </a:extLst>
          </p:cNvPr>
          <p:cNvSpPr txBox="1"/>
          <p:nvPr/>
        </p:nvSpPr>
        <p:spPr>
          <a:xfrm>
            <a:off x="4318000" y="3505200"/>
            <a:ext cx="2984500" cy="205184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1000">
                <a:solidFill>
                  <a:srgbClr val="2563EB"/>
                </a:solidFill>
                <a:latin typeface="Aptos" panose="020B0004020202020204" pitchFamily="34" charset="0"/>
              </a:rPr>
              <a:t>vw_monthly_revenue_trend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98C4C31-3F6C-6575-42A6-A2F72DC6520B}"/>
              </a:ext>
            </a:extLst>
          </p:cNvPr>
          <p:cNvSpPr txBox="1"/>
          <p:nvPr/>
        </p:nvSpPr>
        <p:spPr>
          <a:xfrm>
            <a:off x="4318000" y="3759200"/>
            <a:ext cx="2984500" cy="205184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l-GR" sz="1000">
                <a:solidFill>
                  <a:srgbClr val="4B5563"/>
                </a:solidFill>
                <a:latin typeface="Aptos" panose="020B0004020202020204" pitchFamily="34" charset="0"/>
              </a:rPr>
              <a:t>Πώς κινείται το </a:t>
            </a:r>
            <a:r>
              <a:rPr lang="en-US" sz="1000">
                <a:solidFill>
                  <a:srgbClr val="4B5563"/>
                </a:solidFill>
                <a:latin typeface="Aptos" panose="020B0004020202020204" pitchFamily="34" charset="0"/>
              </a:rPr>
              <a:t>revenue;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C910127-334B-AF73-34D1-BB3652BF6196}"/>
              </a:ext>
            </a:extLst>
          </p:cNvPr>
          <p:cNvSpPr/>
          <p:nvPr/>
        </p:nvSpPr>
        <p:spPr>
          <a:xfrm>
            <a:off x="7810500" y="3086100"/>
            <a:ext cx="3238500" cy="1041400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C9ECE1D-AEC5-F49D-CC9C-68802024F8E3}"/>
              </a:ext>
            </a:extLst>
          </p:cNvPr>
          <p:cNvSpPr txBox="1"/>
          <p:nvPr/>
        </p:nvSpPr>
        <p:spPr>
          <a:xfrm>
            <a:off x="7937500" y="3187700"/>
            <a:ext cx="2984500" cy="251351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1300" b="1">
                <a:solidFill>
                  <a:srgbClr val="111827"/>
                </a:solidFill>
                <a:latin typeface="Aptos" panose="020B0004020202020204" pitchFamily="34" charset="0"/>
              </a:rPr>
              <a:t>Bookings Across Price Ranges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DB10141-1118-6FC8-03A4-D72CCF379F21}"/>
              </a:ext>
            </a:extLst>
          </p:cNvPr>
          <p:cNvSpPr txBox="1"/>
          <p:nvPr/>
        </p:nvSpPr>
        <p:spPr>
          <a:xfrm>
            <a:off x="7937500" y="3505200"/>
            <a:ext cx="2984500" cy="205184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1000">
                <a:solidFill>
                  <a:srgbClr val="2563EB"/>
                </a:solidFill>
                <a:latin typeface="Aptos" panose="020B0004020202020204" pitchFamily="34" charset="0"/>
              </a:rPr>
              <a:t>vw_price_range_distribution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CBFADFE-92B8-0F62-E704-DB048BFCACFD}"/>
              </a:ext>
            </a:extLst>
          </p:cNvPr>
          <p:cNvSpPr txBox="1"/>
          <p:nvPr/>
        </p:nvSpPr>
        <p:spPr>
          <a:xfrm>
            <a:off x="7937500" y="3759200"/>
            <a:ext cx="2984500" cy="205184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l-GR" sz="1000">
                <a:solidFill>
                  <a:srgbClr val="4B5563"/>
                </a:solidFill>
                <a:latin typeface="Aptos" panose="020B0004020202020204" pitchFamily="34" charset="0"/>
              </a:rPr>
              <a:t>Πού συγκεντρώνονται οι </a:t>
            </a:r>
            <a:r>
              <a:rPr lang="en-US" sz="1000">
                <a:solidFill>
                  <a:srgbClr val="4B5563"/>
                </a:solidFill>
                <a:latin typeface="Aptos" panose="020B0004020202020204" pitchFamily="34" charset="0"/>
              </a:rPr>
              <a:t>bookings;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A98CBB8-1C5B-1B6B-B86B-2AFF30918B5E}"/>
              </a:ext>
            </a:extLst>
          </p:cNvPr>
          <p:cNvSpPr/>
          <p:nvPr/>
        </p:nvSpPr>
        <p:spPr>
          <a:xfrm>
            <a:off x="685800" y="4889500"/>
            <a:ext cx="4572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167ED60-F59B-187B-3501-67528061001A}"/>
              </a:ext>
            </a:extLst>
          </p:cNvPr>
          <p:cNvSpPr txBox="1"/>
          <p:nvPr/>
        </p:nvSpPr>
        <p:spPr>
          <a:xfrm>
            <a:off x="914400" y="5245100"/>
            <a:ext cx="4064000" cy="512961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1500" b="1">
                <a:solidFill>
                  <a:srgbClr val="6B7280"/>
                </a:solidFill>
                <a:latin typeface="Aptos" panose="020B0004020202020204" pitchFamily="34" charset="0"/>
              </a:rPr>
              <a:t>Screenshot placeholder: Power BI </a:t>
            </a:r>
            <a:r>
              <a:rPr lang="el-GR" sz="1500" b="1">
                <a:solidFill>
                  <a:srgbClr val="6B7280"/>
                </a:solidFill>
                <a:latin typeface="Aptos" panose="020B0004020202020204" pitchFamily="34" charset="0"/>
              </a:rPr>
              <a:t>πριν το </a:t>
            </a:r>
            <a:r>
              <a:rPr lang="en-US" sz="1500" b="1">
                <a:solidFill>
                  <a:srgbClr val="6B7280"/>
                </a:solidFill>
                <a:latin typeface="Aptos" panose="020B0004020202020204" pitchFamily="34" charset="0"/>
              </a:rPr>
              <a:t>refresh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5B36E0D-59B5-D4B2-DC3E-6C2B223FD830}"/>
              </a:ext>
            </a:extLst>
          </p:cNvPr>
          <p:cNvSpPr/>
          <p:nvPr/>
        </p:nvSpPr>
        <p:spPr>
          <a:xfrm>
            <a:off x="6350000" y="4889500"/>
            <a:ext cx="4572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71ED3C3-6B44-14F9-9007-B27C8B50A169}"/>
              </a:ext>
            </a:extLst>
          </p:cNvPr>
          <p:cNvSpPr txBox="1"/>
          <p:nvPr/>
        </p:nvSpPr>
        <p:spPr>
          <a:xfrm>
            <a:off x="6578600" y="5245100"/>
            <a:ext cx="4064000" cy="512961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1500" b="1">
                <a:solidFill>
                  <a:srgbClr val="6B7280"/>
                </a:solidFill>
                <a:latin typeface="Aptos" panose="020B0004020202020204" pitchFamily="34" charset="0"/>
              </a:rPr>
              <a:t>Screenshot placeholder: Power BI </a:t>
            </a:r>
            <a:r>
              <a:rPr lang="el-GR" sz="1500" b="1">
                <a:solidFill>
                  <a:srgbClr val="6B7280"/>
                </a:solidFill>
                <a:latin typeface="Aptos" panose="020B0004020202020204" pitchFamily="34" charset="0"/>
              </a:rPr>
              <a:t>μετά το </a:t>
            </a:r>
            <a:r>
              <a:rPr lang="en-US" sz="1500" b="1">
                <a:solidFill>
                  <a:srgbClr val="6B7280"/>
                </a:solidFill>
                <a:latin typeface="Aptos" panose="020B0004020202020204" pitchFamily="34" charset="0"/>
              </a:rPr>
              <a:t>refresh</a:t>
            </a:r>
          </a:p>
        </p:txBody>
      </p:sp>
    </p:spTree>
    <p:extLst>
      <p:ext uri="{BB962C8B-B14F-4D97-AF65-F5344CB8AC3E}">
        <p14:creationId xmlns:p14="http://schemas.microsoft.com/office/powerpoint/2010/main" val="28972398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766D245-02F9-A7DA-2342-2B4972C8993F}"/>
              </a:ext>
            </a:extLst>
          </p:cNvPr>
          <p:cNvSpPr txBox="1"/>
          <p:nvPr/>
        </p:nvSpPr>
        <p:spPr>
          <a:xfrm>
            <a:off x="457200" y="304800"/>
            <a:ext cx="9652000" cy="389850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l-GR" sz="2200" b="1">
                <a:solidFill>
                  <a:srgbClr val="111827"/>
                </a:solidFill>
                <a:latin typeface="Aptos" panose="020B0004020202020204" pitchFamily="34" charset="0"/>
              </a:rPr>
              <a:t>EVIDENCE: ΤΙ ΑΛΛΑΖΕΙ ΜΕΤΑ ΤΟ REFRESH</a:t>
            </a:r>
            <a:endParaRPr lang="en-US" sz="2200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AF02C8-79FB-AD03-4CCC-B6CF0027BE13}"/>
              </a:ext>
            </a:extLst>
          </p:cNvPr>
          <p:cNvSpPr txBox="1"/>
          <p:nvPr/>
        </p:nvSpPr>
        <p:spPr>
          <a:xfrm>
            <a:off x="457200" y="736600"/>
            <a:ext cx="10414000" cy="266740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l-GR">
                <a:solidFill>
                  <a:srgbClr val="4B5563"/>
                </a:solidFill>
                <a:latin typeface="Aptos" panose="020B0004020202020204" pitchFamily="34" charset="0"/>
              </a:rPr>
              <a:t>Το ETL run history είναι η απόδειξη ότι το DW μεγαλώνει incremental.</a:t>
            </a:r>
            <a:endParaRPr lang="en-US">
              <a:solidFill>
                <a:srgbClr val="4B5563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AFC469-39BC-585C-A731-0FB017ABE29C}"/>
              </a:ext>
            </a:extLst>
          </p:cNvPr>
          <p:cNvSpPr txBox="1"/>
          <p:nvPr/>
        </p:nvSpPr>
        <p:spPr>
          <a:xfrm>
            <a:off x="11150600" y="6350000"/>
            <a:ext cx="533400" cy="266740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b="1">
                <a:solidFill>
                  <a:srgbClr val="6B7280"/>
                </a:solidFill>
                <a:latin typeface="Aptos" panose="020B0004020202020204" pitchFamily="34" charset="0"/>
              </a:rPr>
              <a:t>13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EB76B2-97BE-40F4-681D-75E08E47C082}"/>
              </a:ext>
            </a:extLst>
          </p:cNvPr>
          <p:cNvSpPr/>
          <p:nvPr/>
        </p:nvSpPr>
        <p:spPr>
          <a:xfrm>
            <a:off x="635000" y="1524000"/>
            <a:ext cx="4826000" cy="2794000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58FF95-DCBC-331B-C928-1789EF0596C7}"/>
              </a:ext>
            </a:extLst>
          </p:cNvPr>
          <p:cNvSpPr txBox="1"/>
          <p:nvPr/>
        </p:nvSpPr>
        <p:spPr>
          <a:xfrm>
            <a:off x="889000" y="1778000"/>
            <a:ext cx="3810000" cy="312906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1700" b="1">
                <a:solidFill>
                  <a:srgbClr val="111827"/>
                </a:solidFill>
                <a:latin typeface="Aptos" panose="020B0004020202020204" pitchFamily="34" charset="0"/>
              </a:rPr>
              <a:t>ETL Run History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ECA57D-2EAC-9D98-EA36-10D4F8864E7F}"/>
              </a:ext>
            </a:extLst>
          </p:cNvPr>
          <p:cNvSpPr txBox="1"/>
          <p:nvPr/>
        </p:nvSpPr>
        <p:spPr>
          <a:xfrm>
            <a:off x="889000" y="2260600"/>
            <a:ext cx="4064000" cy="1579920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>
                <a:solidFill>
                  <a:srgbClr val="374151"/>
                </a:solidFill>
                <a:latin typeface="Aptos" panose="020B0004020202020204" pitchFamily="34" charset="0"/>
              </a:rPr>
              <a:t>Run 1: initial month
2015-06-01 -&gt; 2015-06-30
149,254 flights
Run 2: 2015-07-01, +4,947
Run 3: 2015-07-02, +4,894
Run 4: 2015-07-03, +5,017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5ABEBA0-F505-3D5E-7C77-C6A8B0389ABB}"/>
              </a:ext>
            </a:extLst>
          </p:cNvPr>
          <p:cNvSpPr/>
          <p:nvPr/>
        </p:nvSpPr>
        <p:spPr>
          <a:xfrm>
            <a:off x="6096000" y="1524000"/>
            <a:ext cx="4826000" cy="279400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58E59E-9114-8549-A3F2-BEEEB1E7CB73}"/>
              </a:ext>
            </a:extLst>
          </p:cNvPr>
          <p:cNvSpPr txBox="1"/>
          <p:nvPr/>
        </p:nvSpPr>
        <p:spPr>
          <a:xfrm>
            <a:off x="6350000" y="1778000"/>
            <a:ext cx="3810000" cy="312906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1700" b="1">
                <a:solidFill>
                  <a:srgbClr val="1E3A8A"/>
                </a:solidFill>
                <a:latin typeface="Aptos" panose="020B0004020202020204" pitchFamily="34" charset="0"/>
              </a:rPr>
              <a:t>Power BI Evidence Visual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25ACFF-C275-A83F-2F41-C2510569A797}"/>
              </a:ext>
            </a:extLst>
          </p:cNvPr>
          <p:cNvSpPr txBox="1"/>
          <p:nvPr/>
        </p:nvSpPr>
        <p:spPr>
          <a:xfrm>
            <a:off x="6350000" y="2260600"/>
            <a:ext cx="4064000" cy="1579920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>
                <a:solidFill>
                  <a:srgbClr val="374151"/>
                </a:solidFill>
                <a:latin typeface="Aptos" panose="020B0004020202020204" pitchFamily="34" charset="0"/>
              </a:rPr>
              <a:t>Visual: Clustered column chart
View: vw_etl_run_history
X-axis: run_id
Y-axis: rows_fact_flight
</a:t>
            </a:r>
            <a:r>
              <a:rPr lang="el-GR">
                <a:solidFill>
                  <a:srgbClr val="374151"/>
                </a:solidFill>
                <a:latin typeface="Aptos" panose="020B0004020202020204" pitchFamily="34" charset="0"/>
              </a:rPr>
              <a:t>Μετά από κάθε </a:t>
            </a:r>
            <a:r>
              <a:rPr lang="en-US">
                <a:solidFill>
                  <a:srgbClr val="374151"/>
                </a:solidFill>
                <a:latin typeface="Aptos" panose="020B0004020202020204" pitchFamily="34" charset="0"/>
              </a:rPr>
              <a:t>SQL refresh </a:t>
            </a:r>
            <a:r>
              <a:rPr lang="el-GR">
                <a:solidFill>
                  <a:srgbClr val="374151"/>
                </a:solidFill>
                <a:latin typeface="Aptos" panose="020B0004020202020204" pitchFamily="34" charset="0"/>
              </a:rPr>
              <a:t>και </a:t>
            </a:r>
            <a:r>
              <a:rPr lang="en-US">
                <a:solidFill>
                  <a:srgbClr val="374151"/>
                </a:solidFill>
                <a:latin typeface="Aptos" panose="020B0004020202020204" pitchFamily="34" charset="0"/>
              </a:rPr>
              <a:t>Power BI Refresh </a:t>
            </a:r>
            <a:r>
              <a:rPr lang="el-GR">
                <a:solidFill>
                  <a:srgbClr val="374151"/>
                </a:solidFill>
                <a:latin typeface="Aptos" panose="020B0004020202020204" pitchFamily="34" charset="0"/>
              </a:rPr>
              <a:t>εμφανίζεται νέα μπάρα.</a:t>
            </a:r>
            <a:endParaRPr lang="en-US">
              <a:solidFill>
                <a:srgbClr val="374151"/>
              </a:solidFill>
              <a:latin typeface="Aptos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AEE1B7-4283-7506-69B3-70D929888614}"/>
              </a:ext>
            </a:extLst>
          </p:cNvPr>
          <p:cNvSpPr txBox="1"/>
          <p:nvPr/>
        </p:nvSpPr>
        <p:spPr>
          <a:xfrm>
            <a:off x="889000" y="4826000"/>
            <a:ext cx="9652000" cy="512961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1500" b="1">
                <a:solidFill>
                  <a:srgbClr val="B45309"/>
                </a:solidFill>
                <a:latin typeface="Aptos" panose="020B0004020202020204" pitchFamily="34" charset="0"/>
              </a:rPr>
              <a:t>Power BI cleanup: </a:t>
            </a:r>
            <a:r>
              <a:rPr lang="el-GR" sz="1500" b="1">
                <a:solidFill>
                  <a:srgbClr val="B45309"/>
                </a:solidFill>
                <a:latin typeface="Aptos" panose="020B0004020202020204" pitchFamily="34" charset="0"/>
              </a:rPr>
              <a:t>διαγράψαμε </a:t>
            </a:r>
            <a:r>
              <a:rPr lang="en-US" sz="1500" b="1">
                <a:solidFill>
                  <a:srgbClr val="B45309"/>
                </a:solidFill>
                <a:latin typeface="Aptos" panose="020B0004020202020204" pitchFamily="34" charset="0"/>
              </a:rPr>
              <a:t>auto-relationships </a:t>
            </a:r>
            <a:r>
              <a:rPr lang="el-GR" sz="1500" b="1">
                <a:solidFill>
                  <a:srgbClr val="B45309"/>
                </a:solidFill>
                <a:latin typeface="Aptos" panose="020B0004020202020204" pitchFamily="34" charset="0"/>
              </a:rPr>
              <a:t>ανάμεσα σε </a:t>
            </a:r>
            <a:r>
              <a:rPr lang="en-US" sz="1500" b="1">
                <a:solidFill>
                  <a:srgbClr val="B45309"/>
                </a:solidFill>
                <a:latin typeface="Aptos" panose="020B0004020202020204" pitchFamily="34" charset="0"/>
              </a:rPr>
              <a:t>summary views, </a:t>
            </a:r>
            <a:r>
              <a:rPr lang="el-GR" sz="1500" b="1">
                <a:solidFill>
                  <a:srgbClr val="B45309"/>
                </a:solidFill>
                <a:latin typeface="Aptos" panose="020B0004020202020204" pitchFamily="34" charset="0"/>
              </a:rPr>
              <a:t>γιατί κάθε </a:t>
            </a:r>
            <a:r>
              <a:rPr lang="en-US" sz="1500" b="1">
                <a:solidFill>
                  <a:srgbClr val="B45309"/>
                </a:solidFill>
                <a:latin typeface="Aptos" panose="020B0004020202020204" pitchFamily="34" charset="0"/>
              </a:rPr>
              <a:t>view </a:t>
            </a:r>
            <a:r>
              <a:rPr lang="el-GR" sz="1500" b="1">
                <a:solidFill>
                  <a:srgbClr val="B45309"/>
                </a:solidFill>
                <a:latin typeface="Aptos" panose="020B0004020202020204" pitchFamily="34" charset="0"/>
              </a:rPr>
              <a:t>είναι ήδη </a:t>
            </a:r>
            <a:r>
              <a:rPr lang="en-US" sz="1500" b="1">
                <a:solidFill>
                  <a:srgbClr val="B45309"/>
                </a:solidFill>
                <a:latin typeface="Aptos" panose="020B0004020202020204" pitchFamily="34" charset="0"/>
              </a:rPr>
              <a:t>aggregated </a:t>
            </a:r>
            <a:r>
              <a:rPr lang="el-GR" sz="1500" b="1">
                <a:solidFill>
                  <a:srgbClr val="B45309"/>
                </a:solidFill>
                <a:latin typeface="Aptos" panose="020B0004020202020204" pitchFamily="34" charset="0"/>
              </a:rPr>
              <a:t>και δεν χρειάζεται </a:t>
            </a:r>
            <a:r>
              <a:rPr lang="en-US" sz="1500" b="1">
                <a:solidFill>
                  <a:srgbClr val="B45309"/>
                </a:solidFill>
                <a:latin typeface="Aptos" panose="020B0004020202020204" pitchFamily="34" charset="0"/>
              </a:rPr>
              <a:t>relationships.</a:t>
            </a:r>
          </a:p>
        </p:txBody>
      </p:sp>
    </p:spTree>
    <p:extLst>
      <p:ext uri="{BB962C8B-B14F-4D97-AF65-F5344CB8AC3E}">
        <p14:creationId xmlns:p14="http://schemas.microsoft.com/office/powerpoint/2010/main" val="32246921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83AA97-35CA-C0DE-ED6C-314AC8AB4E39}"/>
              </a:ext>
            </a:extLst>
          </p:cNvPr>
          <p:cNvSpPr txBox="1"/>
          <p:nvPr/>
        </p:nvSpPr>
        <p:spPr>
          <a:xfrm>
            <a:off x="457200" y="304800"/>
            <a:ext cx="9652000" cy="389850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l-GR" sz="2200" b="1">
                <a:solidFill>
                  <a:srgbClr val="111827"/>
                </a:solidFill>
                <a:latin typeface="Aptos" panose="020B0004020202020204" pitchFamily="34" charset="0"/>
              </a:rPr>
              <a:t>ΤΙ ΚΑΝΑΜΕ ΚΑΙ ΤΙ ΜΕΝΕΙ</a:t>
            </a:r>
            <a:endParaRPr lang="en-US" sz="2200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31BD68-A814-77D3-B172-691DC0E2AA98}"/>
              </a:ext>
            </a:extLst>
          </p:cNvPr>
          <p:cNvSpPr txBox="1"/>
          <p:nvPr/>
        </p:nvSpPr>
        <p:spPr>
          <a:xfrm>
            <a:off x="457200" y="736600"/>
            <a:ext cx="10414000" cy="266740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l-GR">
                <a:solidFill>
                  <a:srgbClr val="4B5563"/>
                </a:solidFill>
                <a:latin typeface="Aptos" panose="020B0004020202020204" pitchFamily="34" charset="0"/>
              </a:rPr>
              <a:t>Τελική σύνοψη για την παρουσίαση προόδου.</a:t>
            </a:r>
            <a:endParaRPr lang="en-US">
              <a:solidFill>
                <a:srgbClr val="4B5563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81E9C8-464D-D104-8E15-C659901A5F49}"/>
              </a:ext>
            </a:extLst>
          </p:cNvPr>
          <p:cNvSpPr txBox="1"/>
          <p:nvPr/>
        </p:nvSpPr>
        <p:spPr>
          <a:xfrm>
            <a:off x="11150600" y="6350000"/>
            <a:ext cx="533400" cy="266740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b="1">
                <a:solidFill>
                  <a:srgbClr val="6B7280"/>
                </a:solidFill>
                <a:latin typeface="Aptos" panose="020B0004020202020204" pitchFamily="34" charset="0"/>
              </a:rPr>
              <a:t>14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741323-B5BD-55ED-EFBD-FC515DD76836}"/>
              </a:ext>
            </a:extLst>
          </p:cNvPr>
          <p:cNvSpPr txBox="1"/>
          <p:nvPr/>
        </p:nvSpPr>
        <p:spPr>
          <a:xfrm>
            <a:off x="698500" y="1549400"/>
            <a:ext cx="3302000" cy="312906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l-GR" sz="1700" b="1">
                <a:solidFill>
                  <a:srgbClr val="065F46"/>
                </a:solidFill>
                <a:latin typeface="Aptos" panose="020B0004020202020204" pitchFamily="34" charset="0"/>
              </a:rPr>
              <a:t>Ολοκληρώθηκε</a:t>
            </a:r>
            <a:endParaRPr lang="en-US" sz="1700" b="1">
              <a:solidFill>
                <a:srgbClr val="065F46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5B057A-2D8A-2AC5-1909-51521D9DDE7A}"/>
              </a:ext>
            </a:extLst>
          </p:cNvPr>
          <p:cNvSpPr txBox="1"/>
          <p:nvPr/>
        </p:nvSpPr>
        <p:spPr>
          <a:xfrm>
            <a:off x="698500" y="2006600"/>
            <a:ext cx="5080000" cy="1600438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l-GR">
                <a:solidFill>
                  <a:srgbClr val="374151"/>
                </a:solidFill>
                <a:latin typeface="Aptos" panose="020B0004020202020204" pitchFamily="34" charset="0"/>
              </a:rPr>
              <a:t>1. Εγκατάσταση </a:t>
            </a:r>
            <a:r>
              <a:rPr lang="en-US">
                <a:solidFill>
                  <a:srgbClr val="374151"/>
                </a:solidFill>
                <a:latin typeface="Aptos" panose="020B0004020202020204" pitchFamily="34" charset="0"/>
              </a:rPr>
              <a:t>MySQL/Workbench/Power BI </a:t>
            </a:r>
            <a:r>
              <a:rPr lang="el-GR">
                <a:solidFill>
                  <a:srgbClr val="374151"/>
                </a:solidFill>
                <a:latin typeface="Aptos" panose="020B0004020202020204" pitchFamily="34" charset="0"/>
              </a:rPr>
              <a:t>σε </a:t>
            </a:r>
            <a:r>
              <a:rPr lang="en-US">
                <a:solidFill>
                  <a:srgbClr val="374151"/>
                </a:solidFill>
                <a:latin typeface="Aptos" panose="020B0004020202020204" pitchFamily="34" charset="0"/>
              </a:rPr>
              <a:t>Windows
2. Import </a:t>
            </a:r>
            <a:r>
              <a:rPr lang="el-GR">
                <a:solidFill>
                  <a:srgbClr val="374151"/>
                </a:solidFill>
                <a:latin typeface="Aptos" panose="020B0004020202020204" pitchFamily="34" charset="0"/>
              </a:rPr>
              <a:t>της </a:t>
            </a:r>
            <a:r>
              <a:rPr lang="en-US">
                <a:solidFill>
                  <a:srgbClr val="374151"/>
                </a:solidFill>
                <a:latin typeface="Aptos" panose="020B0004020202020204" pitchFamily="34" charset="0"/>
              </a:rPr>
              <a:t>airportdb
3. </a:t>
            </a:r>
            <a:r>
              <a:rPr lang="el-GR">
                <a:solidFill>
                  <a:srgbClr val="374151"/>
                </a:solidFill>
                <a:latin typeface="Aptos" panose="020B0004020202020204" pitchFamily="34" charset="0"/>
              </a:rPr>
              <a:t>Δημιουργία </a:t>
            </a:r>
            <a:r>
              <a:rPr lang="en-US">
                <a:solidFill>
                  <a:srgbClr val="374151"/>
                </a:solidFill>
                <a:latin typeface="Aptos" panose="020B0004020202020204" pitchFamily="34" charset="0"/>
              </a:rPr>
              <a:t>airportdw schema
4. Dimensions, facts </a:t>
            </a:r>
            <a:r>
              <a:rPr lang="el-GR">
                <a:solidFill>
                  <a:srgbClr val="374151"/>
                </a:solidFill>
                <a:latin typeface="Aptos" panose="020B0004020202020204" pitchFamily="34" charset="0"/>
              </a:rPr>
              <a:t>και </a:t>
            </a:r>
            <a:r>
              <a:rPr lang="en-US">
                <a:solidFill>
                  <a:srgbClr val="374151"/>
                </a:solidFill>
                <a:latin typeface="Aptos" panose="020B0004020202020204" pitchFamily="34" charset="0"/>
              </a:rPr>
              <a:t>dashboard views
5. Incremental refresh </a:t>
            </a:r>
            <a:r>
              <a:rPr lang="el-GR">
                <a:solidFill>
                  <a:srgbClr val="374151"/>
                </a:solidFill>
                <a:latin typeface="Aptos" panose="020B0004020202020204" pitchFamily="34" charset="0"/>
              </a:rPr>
              <a:t>με </a:t>
            </a:r>
            <a:r>
              <a:rPr lang="en-US">
                <a:solidFill>
                  <a:srgbClr val="374151"/>
                </a:solidFill>
                <a:latin typeface="Aptos" panose="020B0004020202020204" pitchFamily="34" charset="0"/>
              </a:rPr>
              <a:t>closed business day logic
6. Scheduler event </a:t>
            </a:r>
            <a:r>
              <a:rPr lang="el-GR">
                <a:solidFill>
                  <a:srgbClr val="374151"/>
                </a:solidFill>
                <a:latin typeface="Aptos" panose="020B0004020202020204" pitchFamily="34" charset="0"/>
              </a:rPr>
              <a:t>και </a:t>
            </a:r>
            <a:r>
              <a:rPr lang="en-US">
                <a:solidFill>
                  <a:srgbClr val="374151"/>
                </a:solidFill>
                <a:latin typeface="Aptos" panose="020B0004020202020204" pitchFamily="34" charset="0"/>
              </a:rPr>
              <a:t>manual demo
7. Power BI dashboard </a:t>
            </a:r>
            <a:r>
              <a:rPr lang="el-GR">
                <a:solidFill>
                  <a:srgbClr val="374151"/>
                </a:solidFill>
                <a:latin typeface="Aptos" panose="020B0004020202020204" pitchFamily="34" charset="0"/>
              </a:rPr>
              <a:t>με </a:t>
            </a:r>
            <a:r>
              <a:rPr lang="en-US">
                <a:solidFill>
                  <a:srgbClr val="374151"/>
                </a:solidFill>
                <a:latin typeface="Aptos" panose="020B0004020202020204" pitchFamily="34" charset="0"/>
              </a:rPr>
              <a:t>business visuals </a:t>
            </a:r>
            <a:r>
              <a:rPr lang="el-GR">
                <a:solidFill>
                  <a:srgbClr val="374151"/>
                </a:solidFill>
                <a:latin typeface="Aptos" panose="020B0004020202020204" pitchFamily="34" charset="0"/>
              </a:rPr>
              <a:t>και </a:t>
            </a:r>
            <a:r>
              <a:rPr lang="en-US">
                <a:solidFill>
                  <a:srgbClr val="374151"/>
                </a:solidFill>
                <a:latin typeface="Aptos" panose="020B0004020202020204" pitchFamily="34" charset="0"/>
              </a:rPr>
              <a:t>ETL evidence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B87D84-A126-DEAE-7BB1-DA9A29A9AAE1}"/>
              </a:ext>
            </a:extLst>
          </p:cNvPr>
          <p:cNvSpPr txBox="1"/>
          <p:nvPr/>
        </p:nvSpPr>
        <p:spPr>
          <a:xfrm>
            <a:off x="6604000" y="1549400"/>
            <a:ext cx="3302000" cy="312906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l-GR" sz="1700" b="1">
                <a:solidFill>
                  <a:srgbClr val="92400E"/>
                </a:solidFill>
                <a:latin typeface="Aptos" panose="020B0004020202020204" pitchFamily="34" charset="0"/>
              </a:rPr>
              <a:t>Τι μένει</a:t>
            </a:r>
            <a:endParaRPr lang="en-US" sz="1700" b="1">
              <a:solidFill>
                <a:srgbClr val="92400E"/>
              </a:solidFill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49F54A-3086-2F9B-871A-7CA5526D2734}"/>
              </a:ext>
            </a:extLst>
          </p:cNvPr>
          <p:cNvSpPr txBox="1"/>
          <p:nvPr/>
        </p:nvSpPr>
        <p:spPr>
          <a:xfrm>
            <a:off x="6604000" y="2006600"/>
            <a:ext cx="4572000" cy="1384995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l-GR">
                <a:solidFill>
                  <a:srgbClr val="374151"/>
                </a:solidFill>
                <a:latin typeface="Aptos" panose="020B0004020202020204" pitchFamily="34" charset="0"/>
              </a:rPr>
              <a:t>1. Να μπουν </a:t>
            </a:r>
            <a:r>
              <a:rPr lang="en-US">
                <a:solidFill>
                  <a:srgbClr val="374151"/>
                </a:solidFill>
                <a:latin typeface="Aptos" panose="020B0004020202020204" pitchFamily="34" charset="0"/>
              </a:rPr>
              <a:t>screenshots </a:t>
            </a:r>
            <a:r>
              <a:rPr lang="el-GR">
                <a:solidFill>
                  <a:srgbClr val="374151"/>
                </a:solidFill>
                <a:latin typeface="Aptos" panose="020B0004020202020204" pitchFamily="34" charset="0"/>
              </a:rPr>
              <a:t>του τελικού </a:t>
            </a:r>
            <a:r>
              <a:rPr lang="en-US">
                <a:solidFill>
                  <a:srgbClr val="374151"/>
                </a:solidFill>
                <a:latin typeface="Aptos" panose="020B0004020202020204" pitchFamily="34" charset="0"/>
              </a:rPr>
              <a:t>Power BI
2. </a:t>
            </a:r>
            <a:r>
              <a:rPr lang="el-GR">
                <a:solidFill>
                  <a:srgbClr val="374151"/>
                </a:solidFill>
                <a:latin typeface="Aptos" panose="020B0004020202020204" pitchFamily="34" charset="0"/>
              </a:rPr>
              <a:t>Να σωθεί το .</a:t>
            </a:r>
            <a:r>
              <a:rPr lang="en-US">
                <a:solidFill>
                  <a:srgbClr val="374151"/>
                </a:solidFill>
                <a:latin typeface="Aptos" panose="020B0004020202020204" pitchFamily="34" charset="0"/>
              </a:rPr>
              <a:t>pbix locally
3. </a:t>
            </a:r>
            <a:r>
              <a:rPr lang="el-GR">
                <a:solidFill>
                  <a:srgbClr val="374151"/>
                </a:solidFill>
                <a:latin typeface="Aptos" panose="020B0004020202020204" pitchFamily="34" charset="0"/>
              </a:rPr>
              <a:t>Να γραφτεί </a:t>
            </a:r>
            <a:r>
              <a:rPr lang="en-US">
                <a:solidFill>
                  <a:srgbClr val="374151"/>
                </a:solidFill>
                <a:latin typeface="Aptos" panose="020B0004020202020204" pitchFamily="34" charset="0"/>
              </a:rPr>
              <a:t>final report </a:t>
            </a:r>
            <a:r>
              <a:rPr lang="el-GR">
                <a:solidFill>
                  <a:srgbClr val="374151"/>
                </a:solidFill>
                <a:latin typeface="Aptos" panose="020B0004020202020204" pitchFamily="34" charset="0"/>
              </a:rPr>
              <a:t>με </a:t>
            </a:r>
            <a:r>
              <a:rPr lang="en-US">
                <a:solidFill>
                  <a:srgbClr val="374151"/>
                </a:solidFill>
                <a:latin typeface="Aptos" panose="020B0004020202020204" pitchFamily="34" charset="0"/>
              </a:rPr>
              <a:t>schema screenshot, SQL logic </a:t>
            </a:r>
            <a:r>
              <a:rPr lang="el-GR">
                <a:solidFill>
                  <a:srgbClr val="374151"/>
                </a:solidFill>
                <a:latin typeface="Aptos" panose="020B0004020202020204" pitchFamily="34" charset="0"/>
              </a:rPr>
              <a:t>και </a:t>
            </a:r>
            <a:r>
              <a:rPr lang="en-US">
                <a:solidFill>
                  <a:srgbClr val="374151"/>
                </a:solidFill>
                <a:latin typeface="Aptos" panose="020B0004020202020204" pitchFamily="34" charset="0"/>
              </a:rPr>
              <a:t>dashboard screenshots
4. </a:t>
            </a:r>
            <a:r>
              <a:rPr lang="el-GR">
                <a:solidFill>
                  <a:srgbClr val="374151"/>
                </a:solidFill>
                <a:latin typeface="Aptos" panose="020B0004020202020204" pitchFamily="34" charset="0"/>
              </a:rPr>
              <a:t>Προαιρετικά αργότερα: </a:t>
            </a:r>
            <a:r>
              <a:rPr lang="en-US">
                <a:solidFill>
                  <a:srgbClr val="374151"/>
                </a:solidFill>
                <a:latin typeface="Aptos" panose="020B0004020202020204" pitchFamily="34" charset="0"/>
              </a:rPr>
              <a:t>AI/ML analysis, </a:t>
            </a:r>
            <a:r>
              <a:rPr lang="el-GR">
                <a:solidFill>
                  <a:srgbClr val="374151"/>
                </a:solidFill>
                <a:latin typeface="Aptos" panose="020B0004020202020204" pitchFamily="34" charset="0"/>
              </a:rPr>
              <a:t>αν ζητηθεί στο τελικό στάδιο</a:t>
            </a:r>
            <a:endParaRPr lang="en-US">
              <a:solidFill>
                <a:srgbClr val="374151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1ACACE-1A27-F42F-9566-66B00891F0D0}"/>
              </a:ext>
            </a:extLst>
          </p:cNvPr>
          <p:cNvSpPr/>
          <p:nvPr/>
        </p:nvSpPr>
        <p:spPr>
          <a:xfrm>
            <a:off x="6604000" y="4318000"/>
            <a:ext cx="4191000" cy="1016000"/>
          </a:xfrm>
          <a:prstGeom prst="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EAC748-58D0-091B-3831-82D8D53A4151}"/>
              </a:ext>
            </a:extLst>
          </p:cNvPr>
          <p:cNvSpPr txBox="1"/>
          <p:nvPr/>
        </p:nvSpPr>
        <p:spPr>
          <a:xfrm>
            <a:off x="6832600" y="4495800"/>
            <a:ext cx="3429000" cy="282129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n-US" sz="1500" b="1">
                <a:solidFill>
                  <a:srgbClr val="1E3A8A"/>
                </a:solidFill>
                <a:latin typeface="Aptos" panose="020B0004020202020204" pitchFamily="34" charset="0"/>
              </a:rPr>
              <a:t>AI tools disclosure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5F2BAC-89E9-FE96-DAB8-8E5CD707BCAE}"/>
              </a:ext>
            </a:extLst>
          </p:cNvPr>
          <p:cNvSpPr txBox="1"/>
          <p:nvPr/>
        </p:nvSpPr>
        <p:spPr>
          <a:xfrm>
            <a:off x="6832600" y="4826000"/>
            <a:ext cx="3683000" cy="605294"/>
          </a:xfrm>
          <a:prstGeom prst="rect">
            <a:avLst/>
          </a:prstGeom>
          <a:noFill/>
        </p:spPr>
        <p:txBody>
          <a:bodyPr vert="horz" lIns="50800" tIns="25400" rIns="50800" bIns="25400" rtlCol="0">
            <a:spAutoFit/>
          </a:bodyPr>
          <a:lstStyle/>
          <a:p>
            <a:r>
              <a:rPr lang="el-GR" sz="1200">
                <a:solidFill>
                  <a:srgbClr val="374151"/>
                </a:solidFill>
                <a:latin typeface="Aptos" panose="020B0004020202020204" pitchFamily="34" charset="0"/>
              </a:rPr>
              <a:t>Χρησιμοποιήθηκαν </a:t>
            </a:r>
            <a:r>
              <a:rPr lang="en-US" sz="1200">
                <a:solidFill>
                  <a:srgbClr val="374151"/>
                </a:solidFill>
                <a:latin typeface="Aptos" panose="020B0004020202020204" pitchFamily="34" charset="0"/>
              </a:rPr>
              <a:t>AI tools </a:t>
            </a:r>
            <a:r>
              <a:rPr lang="el-GR" sz="1200">
                <a:solidFill>
                  <a:srgbClr val="374151"/>
                </a:solidFill>
                <a:latin typeface="Aptos" panose="020B0004020202020204" pitchFamily="34" charset="0"/>
              </a:rPr>
              <a:t>για καθοδήγηση </a:t>
            </a:r>
            <a:r>
              <a:rPr lang="en-US" sz="1200">
                <a:solidFill>
                  <a:srgbClr val="374151"/>
                </a:solidFill>
                <a:latin typeface="Aptos" panose="020B0004020202020204" pitchFamily="34" charset="0"/>
              </a:rPr>
              <a:t>Windows CLI, SQL workflow, documentation </a:t>
            </a:r>
            <a:r>
              <a:rPr lang="el-GR" sz="1200">
                <a:solidFill>
                  <a:srgbClr val="374151"/>
                </a:solidFill>
                <a:latin typeface="Aptos" panose="020B0004020202020204" pitchFamily="34" charset="0"/>
              </a:rPr>
              <a:t>και </a:t>
            </a:r>
            <a:r>
              <a:rPr lang="en-US" sz="1200">
                <a:solidFill>
                  <a:srgbClr val="374151"/>
                </a:solidFill>
                <a:latin typeface="Aptos" panose="020B0004020202020204" pitchFamily="34" charset="0"/>
              </a:rPr>
              <a:t>Power BI troubleshooting.</a:t>
            </a:r>
          </a:p>
        </p:txBody>
      </p:sp>
    </p:spTree>
    <p:extLst>
      <p:ext uri="{BB962C8B-B14F-4D97-AF65-F5344CB8AC3E}">
        <p14:creationId xmlns:p14="http://schemas.microsoft.com/office/powerpoint/2010/main" val="162273663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1702</Words>
  <Application>Microsoft Office PowerPoint</Application>
  <PresentationFormat>Widescreen</PresentationFormat>
  <Paragraphs>194</Paragraphs>
  <Slides>14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Play</vt:lpstr>
      <vt:lpstr>Aptos</vt:lpstr>
      <vt:lpstr>Calibri</vt:lpstr>
      <vt:lpstr>Arial</vt:lpstr>
      <vt:lpstr>Consolas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ΦΥΣΕΚΗΣ ΘΩΜΑΣ</cp:lastModifiedBy>
  <cp:revision>1</cp:revision>
  <dcterms:modified xsi:type="dcterms:W3CDTF">2026-05-24T18:19:00Z</dcterms:modified>
</cp:coreProperties>
</file>